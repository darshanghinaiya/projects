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76" r:id="rId2"/>
    <p:sldId id="257" r:id="rId3"/>
    <p:sldId id="277" r:id="rId4"/>
    <p:sldId id="278" r:id="rId5"/>
    <p:sldId id="287" r:id="rId6"/>
    <p:sldId id="292" r:id="rId7"/>
    <p:sldId id="260" r:id="rId8"/>
    <p:sldId id="279" r:id="rId9"/>
    <p:sldId id="280" r:id="rId10"/>
    <p:sldId id="262" r:id="rId11"/>
    <p:sldId id="263" r:id="rId12"/>
    <p:sldId id="281" r:id="rId13"/>
    <p:sldId id="282" r:id="rId14"/>
    <p:sldId id="294" r:id="rId15"/>
    <p:sldId id="295" r:id="rId16"/>
    <p:sldId id="296" r:id="rId17"/>
    <p:sldId id="291" r:id="rId18"/>
    <p:sldId id="288" r:id="rId19"/>
    <p:sldId id="289" r:id="rId20"/>
    <p:sldId id="290" r:id="rId21"/>
    <p:sldId id="266" r:id="rId22"/>
    <p:sldId id="297" r:id="rId23"/>
    <p:sldId id="319" r:id="rId24"/>
    <p:sldId id="285" r:id="rId25"/>
    <p:sldId id="320" r:id="rId26"/>
    <p:sldId id="321" r:id="rId27"/>
    <p:sldId id="308" r:id="rId28"/>
    <p:sldId id="322" r:id="rId29"/>
    <p:sldId id="27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>
        <p:scale>
          <a:sx n="150" d="100"/>
          <a:sy n="150" d="100"/>
        </p:scale>
        <p:origin x="-2040" y="-13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D590D-02E4-49C1-AA03-C24E2B0F2A15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2C360-583D-41C4-B392-812D94C1A7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506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C360-583D-41C4-B392-812D94C1A73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253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C3A54-78EC-A8CE-780E-8E4A3BA1A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5B605-620C-7A4A-92CD-C08499E10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692B7-CCD2-AEF8-497B-C90950956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52269-520A-AFAB-8DD0-92992D765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C360-583D-41C4-B392-812D94C1A73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731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EB906-36B4-11DE-5486-2A94A2B1A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FB3EE60-B4CD-5CFB-ADC6-65F08F1E6DA0}"/>
              </a:ext>
            </a:extLst>
          </p:cNvPr>
          <p:cNvSpPr/>
          <p:nvPr/>
        </p:nvSpPr>
        <p:spPr>
          <a:xfrm>
            <a:off x="0" y="1"/>
            <a:ext cx="12192000" cy="8579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B283B0-F7EA-5328-B428-814CA6C25782}"/>
              </a:ext>
            </a:extLst>
          </p:cNvPr>
          <p:cNvSpPr txBox="1"/>
          <p:nvPr/>
        </p:nvSpPr>
        <p:spPr>
          <a:xfrm>
            <a:off x="509311" y="173268"/>
            <a:ext cx="3182281" cy="654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600" b="1" dirty="0">
                <a:solidFill>
                  <a:srgbClr val="122B42"/>
                </a:solidFill>
                <a:latin typeface="Aptos" panose="020B0004020202020204" pitchFamily="34" charset="0"/>
              </a:rPr>
              <a:t>Table of Contents :- </a:t>
            </a:r>
            <a:endParaRPr sz="2600" b="1" dirty="0">
              <a:solidFill>
                <a:srgbClr val="122B42"/>
              </a:solidFill>
              <a:latin typeface="Aptos" panose="020B0004020202020204" pitchFamily="34" charset="0"/>
            </a:endParaRPr>
          </a:p>
          <a:p>
            <a:endParaRPr sz="1050" dirty="0">
              <a:solidFill>
                <a:srgbClr val="606C7A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42954-4414-0869-A082-D511423AD673}"/>
              </a:ext>
            </a:extLst>
          </p:cNvPr>
          <p:cNvSpPr txBox="1"/>
          <p:nvPr/>
        </p:nvSpPr>
        <p:spPr>
          <a:xfrm>
            <a:off x="509311" y="974037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1">
                <a:solidFill>
                  <a:srgbClr val="2C5F2D"/>
                </a:solidFill>
              </a:defRPr>
            </a:pPr>
            <a:r>
              <a:rPr sz="200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Part 1: Research Paper Overview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A326380-CBDE-4577-35AA-FB5BDE17B70F}"/>
              </a:ext>
            </a:extLst>
          </p:cNvPr>
          <p:cNvSpPr txBox="1"/>
          <p:nvPr/>
        </p:nvSpPr>
        <p:spPr>
          <a:xfrm>
            <a:off x="548640" y="1448130"/>
            <a:ext cx="8046720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• Introduction &amp; Problem Statement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• Literature Review &amp; Related Works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• Methodology &amp; Approaches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• Dataset Description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BA5C23E-030A-1023-C935-27BCC8584942}"/>
              </a:ext>
            </a:extLst>
          </p:cNvPr>
          <p:cNvSpPr txBox="1"/>
          <p:nvPr/>
        </p:nvSpPr>
        <p:spPr>
          <a:xfrm>
            <a:off x="509311" y="2771713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1">
                <a:solidFill>
                  <a:srgbClr val="2C5F2D"/>
                </a:solidFill>
              </a:defRPr>
            </a:pPr>
            <a:r>
              <a:rPr sz="200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Part 2: Code Implementation &amp; Analysis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B5BCC7AF-5F39-E197-10E5-B28F7572D2F5}"/>
              </a:ext>
            </a:extLst>
          </p:cNvPr>
          <p:cNvSpPr txBox="1"/>
          <p:nvPr/>
        </p:nvSpPr>
        <p:spPr>
          <a:xfrm>
            <a:off x="509311" y="3287891"/>
            <a:ext cx="804672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Data Preprocessing &amp; Feature Engineering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Classification Models Comparison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Regression Models Comparison</a:t>
            </a:r>
            <a:endParaRPr lang="en-IN" sz="1500" dirty="0">
              <a:latin typeface="Aptos" panose="020B0004020202020204" pitchFamily="34" charset="0"/>
            </a:endParaRP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1300">
                <a:solidFill>
                  <a:srgbClr val="1E1E1E"/>
                </a:solidFill>
              </a:defRPr>
            </a:pPr>
            <a:r>
              <a:rPr lang="en-IN" sz="1500" dirty="0">
                <a:latin typeface="Aptos" panose="020B0004020202020204" pitchFamily="34" charset="0"/>
              </a:rPr>
              <a:t>Model Performance &amp; Diagnostics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1300">
                <a:solidFill>
                  <a:srgbClr val="1E1E1E"/>
                </a:solidFill>
              </a:defRPr>
            </a:pPr>
            <a:r>
              <a:rPr lang="en-IN" sz="1500" dirty="0">
                <a:latin typeface="Aptos" panose="020B0004020202020204" pitchFamily="34" charset="0"/>
              </a:rPr>
              <a:t>Feature Prediction</a:t>
            </a:r>
          </a:p>
        </p:txBody>
      </p:sp>
    </p:spTree>
    <p:extLst>
      <p:ext uri="{BB962C8B-B14F-4D97-AF65-F5344CB8AC3E}">
        <p14:creationId xmlns:p14="http://schemas.microsoft.com/office/powerpoint/2010/main" val="1510135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ACDB59A-8B70-A1E3-E525-B173A95D979F}"/>
              </a:ext>
            </a:extLst>
          </p:cNvPr>
          <p:cNvSpPr/>
          <p:nvPr/>
        </p:nvSpPr>
        <p:spPr>
          <a:xfrm>
            <a:off x="-80425" y="1595564"/>
            <a:ext cx="12193768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ptos" panose="020B0004020202020204" pitchFamily="34" charset="0"/>
              </a:rPr>
              <a:t>PART 1 : RESEARCH PAPER OVERVIEW</a:t>
            </a:r>
          </a:p>
          <a:p>
            <a:pPr algn="ctr"/>
            <a:endParaRPr lang="en-IN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ptos" panose="020B0004020202020204" pitchFamily="34" charset="0"/>
            </a:endParaRPr>
          </a:p>
          <a:p>
            <a:pPr algn="ctr"/>
            <a:r>
              <a:rPr lang="en-IN" sz="45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ptos" panose="020B0004020202020204" pitchFamily="34" charset="0"/>
              </a:rPr>
              <a:t>UNDERSTANDING THE AGRICULTURE ML PROBLEM</a:t>
            </a:r>
            <a:endParaRPr lang="en-IN" sz="45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5CA9C-3689-488F-C1BB-92884AF02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F1B44D9-2A12-4839-D25E-E107094D5CD4}"/>
              </a:ext>
            </a:extLst>
          </p:cNvPr>
          <p:cNvSpPr/>
          <p:nvPr/>
        </p:nvSpPr>
        <p:spPr>
          <a:xfrm>
            <a:off x="0" y="1"/>
            <a:ext cx="12192000" cy="8579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BEEE17-96CF-3032-47AE-C79A304BD49B}"/>
              </a:ext>
            </a:extLst>
          </p:cNvPr>
          <p:cNvSpPr txBox="1"/>
          <p:nvPr/>
        </p:nvSpPr>
        <p:spPr>
          <a:xfrm>
            <a:off x="509311" y="173268"/>
            <a:ext cx="674082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600" b="1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INTRODUCTION AND PROBLEM STATEMENT</a:t>
            </a:r>
            <a:endParaRPr sz="2600" b="1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D51DEA-4A99-A8FD-0B12-C90153BFCAEF}"/>
              </a:ext>
            </a:extLst>
          </p:cNvPr>
          <p:cNvSpPr txBox="1"/>
          <p:nvPr/>
        </p:nvSpPr>
        <p:spPr>
          <a:xfrm>
            <a:off x="509311" y="1229032"/>
            <a:ext cx="657974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6C31"/>
                </a:solidFill>
                <a:latin typeface="Aptos" panose="020B0004020202020204" pitchFamily="34" charset="0"/>
              </a:rPr>
              <a:t>The Agricultural Challenge :- 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500" dirty="0">
                <a:latin typeface="Aptos" panose="020B0004020202020204" pitchFamily="34" charset="0"/>
              </a:rPr>
              <a:t>• Agriculture is pivotal for economy but faces challenges: diseases, soil degradation, water scarcity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500" dirty="0">
                <a:latin typeface="Aptos" panose="020B0004020202020204" pitchFamily="34" charset="0"/>
              </a:rPr>
              <a:t>• Farmers struggle with crop selection, fertilization, and irrigation optimization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500" dirty="0">
                <a:latin typeface="Aptos" panose="020B0004020202020204" pitchFamily="34" charset="0"/>
              </a:rPr>
              <a:t>• Need for data-driven decision support systems to improve yield and food security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500" dirty="0">
                <a:latin typeface="Aptos" panose="020B0004020202020204" pitchFamily="34" charset="0"/>
              </a:rPr>
              <a:t>• Machine Learning enables prediction, classification, and automation in agriculture</a:t>
            </a:r>
          </a:p>
          <a:p>
            <a:endParaRPr lang="en-IN" sz="1500" dirty="0">
              <a:latin typeface="Aptos" panose="020B0004020202020204" pitchFamily="34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9B96651B-DEDA-7629-2612-B8D007E7B5A8}"/>
              </a:ext>
            </a:extLst>
          </p:cNvPr>
          <p:cNvSpPr txBox="1"/>
          <p:nvPr/>
        </p:nvSpPr>
        <p:spPr>
          <a:xfrm>
            <a:off x="509311" y="3508310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1">
                <a:solidFill>
                  <a:srgbClr val="2C5F2D"/>
                </a:solidFill>
              </a:defRPr>
            </a:pPr>
            <a:r>
              <a:rPr dirty="0">
                <a:solidFill>
                  <a:srgbClr val="006C31"/>
                </a:solidFill>
                <a:latin typeface="Aptos" panose="020B0004020202020204" pitchFamily="34" charset="0"/>
              </a:rPr>
              <a:t>Research Objectives</a:t>
            </a:r>
            <a:endParaRPr lang="en-IN" dirty="0">
              <a:solidFill>
                <a:srgbClr val="006C31"/>
              </a:solidFill>
              <a:latin typeface="Aptos" panose="020B0004020202020204" pitchFamily="34" charset="0"/>
            </a:endParaRPr>
          </a:p>
          <a:p>
            <a:pPr>
              <a:defRPr sz="1800" b="1">
                <a:solidFill>
                  <a:srgbClr val="2C5F2D"/>
                </a:solidFill>
              </a:defRPr>
            </a:pPr>
            <a:endParaRPr lang="en-IN" dirty="0">
              <a:solidFill>
                <a:srgbClr val="00B050"/>
              </a:solidFill>
              <a:latin typeface="Aptos" panose="020B0004020202020204" pitchFamily="34" charset="0"/>
            </a:endParaRPr>
          </a:p>
          <a:p>
            <a:pPr>
              <a:defRPr sz="1800" b="1">
                <a:solidFill>
                  <a:srgbClr val="2C5F2D"/>
                </a:solidFill>
              </a:defRPr>
            </a:pPr>
            <a:endParaRPr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EA289F13-CA64-47C2-85FD-ED385EA7E39B}"/>
              </a:ext>
            </a:extLst>
          </p:cNvPr>
          <p:cNvSpPr txBox="1"/>
          <p:nvPr/>
        </p:nvSpPr>
        <p:spPr>
          <a:xfrm>
            <a:off x="600751" y="3969975"/>
            <a:ext cx="8046720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• Develop crop recommendation system (22 crops) based on soil &amp; weather parameters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• Create wheat yield prediction model for Pakistan (1992-2024 data)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• Evaluate 7+ ML algorithms for both classification and regression tasks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• Apply Explainable AI (XAI) techniques for farmer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2165764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A66E3-F95C-C5E1-48F7-827F3660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9C28457-F87F-D31D-2EB2-F1616D6962CB}"/>
              </a:ext>
            </a:extLst>
          </p:cNvPr>
          <p:cNvSpPr/>
          <p:nvPr/>
        </p:nvSpPr>
        <p:spPr>
          <a:xfrm>
            <a:off x="0" y="1"/>
            <a:ext cx="12192000" cy="8579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6AEDE3-BC1C-5294-EA17-B94B0C50C8A5}"/>
              </a:ext>
            </a:extLst>
          </p:cNvPr>
          <p:cNvSpPr txBox="1"/>
          <p:nvPr/>
        </p:nvSpPr>
        <p:spPr>
          <a:xfrm>
            <a:off x="509311" y="173268"/>
            <a:ext cx="324120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600" b="1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DATASET OVERVIEW</a:t>
            </a:r>
            <a:endParaRPr sz="2600" b="1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6C284-8627-1D20-0626-853764E306AA}"/>
              </a:ext>
            </a:extLst>
          </p:cNvPr>
          <p:cNvSpPr txBox="1"/>
          <p:nvPr/>
        </p:nvSpPr>
        <p:spPr>
          <a:xfrm>
            <a:off x="127819" y="1006824"/>
            <a:ext cx="5053781" cy="15021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  <a:latin typeface="Aptos" panose="020B0004020202020204" pitchFamily="34" charset="0"/>
              </a:rPr>
              <a:t>Crop Recommendation Dataset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b="1" dirty="0">
                <a:solidFill>
                  <a:schemeClr val="accent2"/>
                </a:solidFill>
                <a:latin typeface="Aptos" panose="020B0004020202020204" pitchFamily="34" charset="0"/>
              </a:rPr>
              <a:t>Crop Recommendation (Classification problem)</a:t>
            </a:r>
            <a:br>
              <a:rPr lang="en-US" sz="1500" dirty="0">
                <a:latin typeface="Aptos" panose="020B0004020202020204" pitchFamily="34" charset="0"/>
              </a:rPr>
            </a:br>
            <a:r>
              <a:rPr lang="en-US" sz="1500" dirty="0">
                <a:latin typeface="Aptos" panose="020B0004020202020204" pitchFamily="34" charset="0"/>
              </a:rPr>
              <a:t> Suggest best crop based on soil + weather conditions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b="1" dirty="0">
                <a:solidFill>
                  <a:schemeClr val="accent2"/>
                </a:solidFill>
                <a:latin typeface="Aptos" panose="020B0004020202020204" pitchFamily="34" charset="0"/>
              </a:rPr>
              <a:t>Yield Prediction (Regression problem)</a:t>
            </a:r>
            <a:br>
              <a:rPr lang="en-US" sz="1500" dirty="0">
                <a:latin typeface="Aptos" panose="020B0004020202020204" pitchFamily="34" charset="0"/>
              </a:rPr>
            </a:br>
            <a:r>
              <a:rPr lang="en-US" sz="1500" dirty="0">
                <a:latin typeface="Aptos" panose="020B0004020202020204" pitchFamily="34" charset="0"/>
              </a:rPr>
              <a:t> Predict future crop production (wheat yield) 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endParaRPr sz="1500" dirty="0">
              <a:latin typeface="Aptos" panose="020B0004020202020204" pitchFamily="34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B064E83-B7E7-08DE-70AC-6D8B3B54A2D3}"/>
              </a:ext>
            </a:extLst>
          </p:cNvPr>
          <p:cNvSpPr txBox="1"/>
          <p:nvPr/>
        </p:nvSpPr>
        <p:spPr>
          <a:xfrm>
            <a:off x="5535561" y="1006824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1">
                <a:solidFill>
                  <a:srgbClr val="2C5F2D"/>
                </a:solidFill>
              </a:defRPr>
            </a:pPr>
            <a:r>
              <a:rPr sz="1600" dirty="0">
                <a:solidFill>
                  <a:srgbClr val="7030A0"/>
                </a:solidFill>
                <a:latin typeface="Aptos" panose="020B0004020202020204" pitchFamily="34" charset="0"/>
              </a:rPr>
              <a:t>Wheat Yield Prediction Dataset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CD29CE85-5021-4AE5-8454-9F4D9C6C3740}"/>
              </a:ext>
            </a:extLst>
          </p:cNvPr>
          <p:cNvSpPr txBox="1"/>
          <p:nvPr/>
        </p:nvSpPr>
        <p:spPr>
          <a:xfrm>
            <a:off x="5692877" y="1327980"/>
            <a:ext cx="5732207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• </a:t>
            </a:r>
            <a:r>
              <a:rPr sz="1500" dirty="0">
                <a:solidFill>
                  <a:srgbClr val="00B0F0"/>
                </a:solidFill>
                <a:latin typeface="Aptos" panose="020B0004020202020204" pitchFamily="34" charset="0"/>
              </a:rPr>
              <a:t>Source</a:t>
            </a:r>
            <a:r>
              <a:rPr sz="1500" dirty="0">
                <a:latin typeface="Aptos" panose="020B0004020202020204" pitchFamily="34" charset="0"/>
              </a:rPr>
              <a:t>: World Bank &amp; FAO data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• </a:t>
            </a:r>
            <a:r>
              <a:rPr sz="1500" dirty="0">
                <a:solidFill>
                  <a:srgbClr val="00B0F0"/>
                </a:solidFill>
                <a:latin typeface="Aptos" panose="020B0004020202020204" pitchFamily="34" charset="0"/>
              </a:rPr>
              <a:t>Coverage</a:t>
            </a:r>
            <a:r>
              <a:rPr sz="1500" dirty="0">
                <a:latin typeface="Aptos" panose="020B0004020202020204" pitchFamily="34" charset="0"/>
              </a:rPr>
              <a:t>: Pakistan wheat yield data (1992-2013, 22 years)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• </a:t>
            </a:r>
            <a:r>
              <a:rPr sz="1500" dirty="0">
                <a:solidFill>
                  <a:srgbClr val="00B0F0"/>
                </a:solidFill>
                <a:latin typeface="Aptos" panose="020B0004020202020204" pitchFamily="34" charset="0"/>
              </a:rPr>
              <a:t>Input Features</a:t>
            </a:r>
            <a:r>
              <a:rPr sz="1500" dirty="0">
                <a:latin typeface="Aptos" panose="020B0004020202020204" pitchFamily="34" charset="0"/>
              </a:rPr>
              <a:t>: Area (hectares), Average Temperature, Average Rainfall, Pesticide Used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• </a:t>
            </a:r>
            <a:r>
              <a:rPr sz="1500" dirty="0">
                <a:solidFill>
                  <a:srgbClr val="00B0F0"/>
                </a:solidFill>
                <a:latin typeface="Aptos" panose="020B0004020202020204" pitchFamily="34" charset="0"/>
              </a:rPr>
              <a:t>Target</a:t>
            </a:r>
            <a:r>
              <a:rPr sz="1500" dirty="0">
                <a:latin typeface="Aptos" panose="020B0004020202020204" pitchFamily="34" charset="0"/>
              </a:rPr>
              <a:t>: Yield expressed in hectograms per hectare (Hg/Ha)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sz="1500" dirty="0">
                <a:latin typeface="Aptos" panose="020B0004020202020204" pitchFamily="34" charset="0"/>
              </a:rPr>
              <a:t>• </a:t>
            </a:r>
            <a:r>
              <a:rPr sz="1500" dirty="0">
                <a:solidFill>
                  <a:srgbClr val="00B0F0"/>
                </a:solidFill>
                <a:latin typeface="Aptos" panose="020B0004020202020204" pitchFamily="34" charset="0"/>
              </a:rPr>
              <a:t>Data Imputation</a:t>
            </a:r>
            <a:r>
              <a:rPr sz="1500" dirty="0">
                <a:latin typeface="Aptos" panose="020B0004020202020204" pitchFamily="34" charset="0"/>
              </a:rPr>
              <a:t>: Used MICE (Multivariate Imputation by Chained Equations) for 2014-2024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546866"/>
              </p:ext>
            </p:extLst>
          </p:nvPr>
        </p:nvGraphicFramePr>
        <p:xfrm>
          <a:off x="452284" y="342900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195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/>
                        <a:t>Dataset</a:t>
                      </a:r>
                    </a:p>
                  </a:txBody>
                  <a:tcPr>
                    <a:solidFill>
                      <a:srgbClr val="225E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/>
                        <a:t>Source</a:t>
                      </a:r>
                    </a:p>
                  </a:txBody>
                  <a:tcPr>
                    <a:solidFill>
                      <a:srgbClr val="225E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/>
                        <a:t>Rows / period</a:t>
                      </a:r>
                    </a:p>
                  </a:txBody>
                  <a:tcPr>
                    <a:solidFill>
                      <a:srgbClr val="225E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/>
                        <a:t>Target</a:t>
                      </a:r>
                    </a:p>
                  </a:txBody>
                  <a:tcPr>
                    <a:solidFill>
                      <a:srgbClr val="225E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/>
                        <a:t>Notable features</a:t>
                      </a:r>
                    </a:p>
                  </a:txBody>
                  <a:tcPr>
                    <a:solidFill>
                      <a:srgbClr val="225E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87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Crop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Kaggle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2200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22 crop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N, P, K, pH, temperature, humidity, rainfall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69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Wheat yield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FAO / World Bank / Kaggle references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1992-2013 plus imputed 2014-2024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Yield in Hg/Ha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Year, rainfall, pesticide usage, 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182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EBFF64-0562-7D1C-0C45-A1E903E2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7664F1-9BEC-130D-ECED-496999CFBBD2}"/>
              </a:ext>
            </a:extLst>
          </p:cNvPr>
          <p:cNvSpPr/>
          <p:nvPr/>
        </p:nvSpPr>
        <p:spPr>
          <a:xfrm>
            <a:off x="0" y="1"/>
            <a:ext cx="12192000" cy="8579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C0AE30-73D3-8C33-63B2-B910B18FAE65}"/>
              </a:ext>
            </a:extLst>
          </p:cNvPr>
          <p:cNvSpPr txBox="1"/>
          <p:nvPr/>
        </p:nvSpPr>
        <p:spPr>
          <a:xfrm>
            <a:off x="509311" y="173268"/>
            <a:ext cx="588642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600" b="1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DATASET OVERVIEW (Research Paper)</a:t>
            </a:r>
            <a:endParaRPr sz="2600" b="1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5E37A6-AA46-8D88-F583-251AA57C75C9}"/>
              </a:ext>
            </a:extLst>
          </p:cNvPr>
          <p:cNvSpPr txBox="1"/>
          <p:nvPr/>
        </p:nvSpPr>
        <p:spPr>
          <a:xfrm>
            <a:off x="5750918" y="1386349"/>
            <a:ext cx="50743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Temperature &amp; pH</a:t>
            </a:r>
            <a:r>
              <a:rPr lang="en-US" dirty="0"/>
              <a:t> → roughly normal (good for ML models)</a:t>
            </a:r>
            <a:r>
              <a:rPr lang="en-I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Rainfall &amp; humidity</a:t>
            </a:r>
            <a:r>
              <a:rPr lang="en-IN" dirty="0"/>
              <a:t> → slightly skewed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N, P, K</a:t>
            </a:r>
            <a:r>
              <a:rPr lang="en-US" dirty="0"/>
              <a:t> → uneven distribution → may need normalization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Helps understand data variability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CF47A-3B67-9853-AA3B-7F6146B73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95715"/>
            <a:ext cx="5154408" cy="596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28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73C44-1274-2B8B-A946-9997D79FB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4BD9C56-65F9-C106-F514-0CFD77FF4D3F}"/>
              </a:ext>
            </a:extLst>
          </p:cNvPr>
          <p:cNvSpPr/>
          <p:nvPr/>
        </p:nvSpPr>
        <p:spPr>
          <a:xfrm>
            <a:off x="0" y="1"/>
            <a:ext cx="12192000" cy="8579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5E5E-82A1-7728-92A6-7D1DE735111F}"/>
              </a:ext>
            </a:extLst>
          </p:cNvPr>
          <p:cNvSpPr txBox="1"/>
          <p:nvPr/>
        </p:nvSpPr>
        <p:spPr>
          <a:xfrm>
            <a:off x="509311" y="173268"/>
            <a:ext cx="588642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600" b="1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DATASET OVERVIEW (Research Paper)</a:t>
            </a:r>
            <a:endParaRPr sz="2600" b="1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8A61C-C5AC-51C4-C0DA-C94E3B50021B}"/>
              </a:ext>
            </a:extLst>
          </p:cNvPr>
          <p:cNvSpPr txBox="1"/>
          <p:nvPr/>
        </p:nvSpPr>
        <p:spPr>
          <a:xfrm>
            <a:off x="509311" y="5390505"/>
            <a:ext cx="50743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P &amp; K (0.74)</a:t>
            </a:r>
            <a:r>
              <a:rPr lang="en-US" dirty="0"/>
              <a:t> → strong positive correlation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Most other features → weak correlation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 strong multicollinearity (good for model stability)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BBCE1-F196-6FA3-0F21-B33C36793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9367"/>
            <a:ext cx="5662334" cy="36171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8CD105-7332-2276-B2E6-AD8E05001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731" y="1031236"/>
            <a:ext cx="4768842" cy="37952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84C0C8-A320-1C74-E45D-5B2C01C9F0A3}"/>
              </a:ext>
            </a:extLst>
          </p:cNvPr>
          <p:cNvSpPr txBox="1"/>
          <p:nvPr/>
        </p:nvSpPr>
        <p:spPr>
          <a:xfrm>
            <a:off x="5132439" y="5004619"/>
            <a:ext cx="67547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Focused on </a:t>
            </a:r>
            <a:r>
              <a:rPr lang="en-US" b="1" dirty="0"/>
              <a:t>yield vs key variables</a:t>
            </a:r>
          </a:p>
          <a:p>
            <a:r>
              <a:rPr lang="en-US" b="1" dirty="0"/>
              <a:t>2. Yield &amp; Rainfall (0.36)</a:t>
            </a:r>
            <a:r>
              <a:rPr lang="en-US" dirty="0"/>
              <a:t> → moderate positive, </a:t>
            </a:r>
            <a:r>
              <a:rPr lang="en-US" b="1" dirty="0"/>
              <a:t>Yield &amp; Temperature (0.13)</a:t>
            </a:r>
            <a:r>
              <a:rPr lang="en-US" dirty="0"/>
              <a:t> → weak positive, </a:t>
            </a:r>
            <a:r>
              <a:rPr lang="en-US" b="1" dirty="0"/>
              <a:t>Yield &amp; Pesticides (-0.47)</a:t>
            </a:r>
            <a:r>
              <a:rPr lang="en-US" dirty="0"/>
              <a:t> → negative correlation</a:t>
            </a:r>
          </a:p>
          <a:p>
            <a:r>
              <a:rPr lang="en-US" dirty="0"/>
              <a:t>3. </a:t>
            </a:r>
            <a:r>
              <a:rPr lang="en-IN" dirty="0"/>
              <a:t>Rainfall improves yield &amp; </a:t>
            </a:r>
            <a:r>
              <a:rPr lang="en-US" dirty="0"/>
              <a:t>Excess pesticides may reduce yield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3535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A2B7298-6A69-9014-708F-E35AB4859164}"/>
              </a:ext>
            </a:extLst>
          </p:cNvPr>
          <p:cNvSpPr/>
          <p:nvPr/>
        </p:nvSpPr>
        <p:spPr>
          <a:xfrm>
            <a:off x="0" y="1"/>
            <a:ext cx="12192000" cy="1011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7273" y="88445"/>
            <a:ext cx="6738598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22B42"/>
                </a:solidFill>
                <a:latin typeface="Aptos" panose="020B0004020202020204" pitchFamily="34" charset="0"/>
              </a:rPr>
              <a:t>Paper Methodology Architecture</a:t>
            </a:r>
          </a:p>
          <a:p>
            <a:endParaRPr lang="en-IN" sz="1050" dirty="0">
              <a:solidFill>
                <a:srgbClr val="606C7A"/>
              </a:solidFill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606C7A"/>
                </a:solidFill>
                <a:latin typeface="Aptos" panose="020B0004020202020204" pitchFamily="34" charset="0"/>
              </a:rPr>
              <a:t>Three independent workflows inside one study</a:t>
            </a:r>
            <a:endParaRPr sz="1600" dirty="0">
              <a:solidFill>
                <a:srgbClr val="606C7A"/>
              </a:solidFill>
              <a:latin typeface="Aptos" panose="020B00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42943" y="3429000"/>
            <a:ext cx="5166360" cy="2942303"/>
          </a:xfrm>
          <a:prstGeom prst="roundRect">
            <a:avLst/>
          </a:prstGeom>
          <a:solidFill>
            <a:srgbClr val="E7EDF2"/>
          </a:solidFill>
          <a:ln>
            <a:solidFill>
              <a:srgbClr val="E7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88057" y="3429001"/>
            <a:ext cx="5318760" cy="3005282"/>
          </a:xfrm>
          <a:prstGeom prst="roundRect">
            <a:avLst/>
          </a:prstGeom>
          <a:solidFill>
            <a:srgbClr val="E7EDF2"/>
          </a:solidFill>
          <a:ln>
            <a:solidFill>
              <a:srgbClr val="E7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26FA99-B4E6-B03A-A58A-F18559BEF89F}"/>
              </a:ext>
            </a:extLst>
          </p:cNvPr>
          <p:cNvSpPr txBox="1"/>
          <p:nvPr/>
        </p:nvSpPr>
        <p:spPr>
          <a:xfrm>
            <a:off x="737583" y="3592277"/>
            <a:ext cx="502412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ptos" panose="020B0004020202020204" pitchFamily="34" charset="0"/>
              </a:rPr>
              <a:t>Crop Recommendation Dataset (Classification)</a:t>
            </a:r>
          </a:p>
          <a:p>
            <a:endParaRPr lang="en-IN" sz="2000" b="1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1. Data Collection (soil + weather data)</a:t>
            </a:r>
          </a:p>
          <a:p>
            <a:r>
              <a:rPr lang="en-IN" dirty="0">
                <a:latin typeface="Aptos" panose="020B0004020202020204" pitchFamily="34" charset="0"/>
              </a:rPr>
              <a:t>2. Data Preprocessing (cleaning, normalization)</a:t>
            </a:r>
          </a:p>
          <a:p>
            <a:r>
              <a:rPr lang="en-IN" dirty="0">
                <a:latin typeface="Aptos" panose="020B0004020202020204" pitchFamily="34" charset="0"/>
              </a:rPr>
              <a:t>3. Feature Engineering (improve input features)</a:t>
            </a:r>
          </a:p>
          <a:p>
            <a:r>
              <a:rPr lang="en-IN" dirty="0">
                <a:latin typeface="Aptos" panose="020B0004020202020204" pitchFamily="34" charset="0"/>
              </a:rPr>
              <a:t>4. Apply ML Models (RF, SVM, KNN, etc.)</a:t>
            </a:r>
          </a:p>
          <a:p>
            <a:r>
              <a:rPr lang="en-IN" dirty="0">
                <a:latin typeface="Aptos" panose="020B0004020202020204" pitchFamily="34" charset="0"/>
              </a:rPr>
              <a:t>5. Model Evaluation (accuracy, F1-score)</a:t>
            </a:r>
          </a:p>
          <a:p>
            <a:r>
              <a:rPr lang="en-IN" dirty="0">
                <a:latin typeface="Aptos" panose="020B0004020202020204" pitchFamily="34" charset="0"/>
              </a:rPr>
              <a:t>6. Output: Best crop suggestion (22 crops)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AA9092-15DE-B262-4B28-F16E1476BE70}"/>
              </a:ext>
            </a:extLst>
          </p:cNvPr>
          <p:cNvSpPr txBox="1"/>
          <p:nvPr/>
        </p:nvSpPr>
        <p:spPr>
          <a:xfrm>
            <a:off x="6516657" y="3623591"/>
            <a:ext cx="486156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ptos" panose="020B0004020202020204" pitchFamily="34" charset="0"/>
              </a:rPr>
              <a:t>Yield Prediction System (Regression)</a:t>
            </a:r>
          </a:p>
          <a:p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1. Data Collection (wheat yield data: 1992-2013)</a:t>
            </a:r>
          </a:p>
          <a:p>
            <a:r>
              <a:rPr lang="en-IN" dirty="0">
                <a:latin typeface="Aptos" panose="020B0004020202020204" pitchFamily="34" charset="0"/>
              </a:rPr>
              <a:t>2. Missing Data Handling using MICE</a:t>
            </a:r>
          </a:p>
          <a:p>
            <a:r>
              <a:rPr lang="en-IN" dirty="0">
                <a:latin typeface="Aptos" panose="020B0004020202020204" pitchFamily="34" charset="0"/>
              </a:rPr>
              <a:t>3. Preprocessing &amp; Feature Selection</a:t>
            </a:r>
          </a:p>
          <a:p>
            <a:r>
              <a:rPr lang="en-IN" dirty="0">
                <a:latin typeface="Aptos" panose="020B0004020202020204" pitchFamily="34" charset="0"/>
              </a:rPr>
              <a:t>4. Apply ML Models (SVR, RF, XGBoost, etc.)</a:t>
            </a:r>
          </a:p>
          <a:p>
            <a:r>
              <a:rPr lang="en-IN" dirty="0">
                <a:latin typeface="Aptos" panose="020B0004020202020204" pitchFamily="34" charset="0"/>
              </a:rPr>
              <a:t>5. Model Evaluation (R2, RMSE)</a:t>
            </a:r>
          </a:p>
          <a:p>
            <a:r>
              <a:rPr lang="en-IN" dirty="0">
                <a:latin typeface="Aptos" panose="020B0004020202020204" pitchFamily="34" charset="0"/>
              </a:rPr>
              <a:t>6. Output: Future yield prediction (up to 2025)</a:t>
            </a: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480D8DE1-478D-656F-623B-A49660B6F535}"/>
              </a:ext>
            </a:extLst>
          </p:cNvPr>
          <p:cNvSpPr/>
          <p:nvPr/>
        </p:nvSpPr>
        <p:spPr>
          <a:xfrm>
            <a:off x="467523" y="1156279"/>
            <a:ext cx="11232864" cy="1960548"/>
          </a:xfrm>
          <a:prstGeom prst="roundRect">
            <a:avLst/>
          </a:prstGeom>
          <a:solidFill>
            <a:srgbClr val="E7EDF2"/>
          </a:solidFill>
          <a:ln>
            <a:solidFill>
              <a:srgbClr val="E7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01968-7783-60C2-8927-C2C1CCDD660A}"/>
              </a:ext>
            </a:extLst>
          </p:cNvPr>
          <p:cNvSpPr txBox="1"/>
          <p:nvPr/>
        </p:nvSpPr>
        <p:spPr>
          <a:xfrm>
            <a:off x="737583" y="1206341"/>
            <a:ext cx="11232864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dirty="0">
                <a:latin typeface="Aptos" panose="020B0004020202020204" pitchFamily="34" charset="0"/>
              </a:rPr>
              <a:t>DATA PRE-PROCESSING PIPELINE</a:t>
            </a:r>
          </a:p>
          <a:p>
            <a:endParaRPr lang="en-IN" sz="1700" b="1" dirty="0">
              <a:latin typeface="Aptos" panose="020B0004020202020204" pitchFamily="34" charset="0"/>
            </a:endParaRPr>
          </a:p>
          <a:p>
            <a:pPr marL="342900" indent="-342900">
              <a:spcBef>
                <a:spcPts val="300"/>
              </a:spcBef>
              <a:buFont typeface="+mj-lt"/>
              <a:buAutoNum type="arabicPeriod"/>
              <a:defRPr sz="1300">
                <a:solidFill>
                  <a:srgbClr val="1E1E1E"/>
                </a:solidFill>
              </a:defRPr>
            </a:pPr>
            <a:r>
              <a:rPr lang="en-IN" sz="1700" dirty="0">
                <a:latin typeface="Aptos" panose="020B0004020202020204" pitchFamily="34" charset="0"/>
              </a:rPr>
              <a:t>Data Cleaning: Handle missing values, detect and remove outliers using IQR method</a:t>
            </a:r>
          </a:p>
          <a:p>
            <a:pPr marL="342900" indent="-342900">
              <a:spcBef>
                <a:spcPts val="300"/>
              </a:spcBef>
              <a:buFont typeface="+mj-lt"/>
              <a:buAutoNum type="arabicPeriod"/>
              <a:defRPr sz="1300">
                <a:solidFill>
                  <a:srgbClr val="1E1E1E"/>
                </a:solidFill>
              </a:defRPr>
            </a:pPr>
            <a:r>
              <a:rPr lang="en-IN" sz="1700" dirty="0">
                <a:latin typeface="Aptos" panose="020B0004020202020204" pitchFamily="34" charset="0"/>
              </a:rPr>
              <a:t>Feature Engineering: Encode categorical variables (Soil_Type, Region, Season, Irrigation_Type)</a:t>
            </a:r>
          </a:p>
          <a:p>
            <a:pPr marL="342900" indent="-342900">
              <a:spcBef>
                <a:spcPts val="300"/>
              </a:spcBef>
              <a:buFont typeface="+mj-lt"/>
              <a:buAutoNum type="arabicPeriod"/>
              <a:defRPr sz="1300">
                <a:solidFill>
                  <a:srgbClr val="1E1E1E"/>
                </a:solidFill>
              </a:defRPr>
            </a:pPr>
            <a:r>
              <a:rPr lang="en-IN" sz="1700" dirty="0">
                <a:latin typeface="Aptos" panose="020B0004020202020204" pitchFamily="34" charset="0"/>
              </a:rPr>
              <a:t>Feature Scaling: StandardScaler normalization (zero mean, unit variance) for ML algorithms</a:t>
            </a:r>
          </a:p>
          <a:p>
            <a:pPr marL="342900" indent="-342900">
              <a:spcBef>
                <a:spcPts val="300"/>
              </a:spcBef>
              <a:buFont typeface="+mj-lt"/>
              <a:buAutoNum type="arabicPeriod"/>
              <a:defRPr sz="1300">
                <a:solidFill>
                  <a:srgbClr val="1E1E1E"/>
                </a:solidFill>
              </a:defRPr>
            </a:pPr>
            <a:r>
              <a:rPr lang="en-IN" sz="1700" dirty="0">
                <a:latin typeface="Aptos" panose="020B0004020202020204" pitchFamily="34" charset="0"/>
              </a:rPr>
              <a:t>Train-Test Split: 70% training / 30% testing with stratification for classification</a:t>
            </a:r>
          </a:p>
          <a:p>
            <a:endParaRPr lang="en-IN" sz="17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570C8-3774-3D29-85C8-0B67BD5CF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F3EE22-E528-247D-64E8-3E287982BDF5}"/>
              </a:ext>
            </a:extLst>
          </p:cNvPr>
          <p:cNvSpPr/>
          <p:nvPr/>
        </p:nvSpPr>
        <p:spPr>
          <a:xfrm>
            <a:off x="0" y="1"/>
            <a:ext cx="12192000" cy="1011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39B715-621B-2583-77DA-0879D3A66436}"/>
              </a:ext>
            </a:extLst>
          </p:cNvPr>
          <p:cNvSpPr txBox="1"/>
          <p:nvPr/>
        </p:nvSpPr>
        <p:spPr>
          <a:xfrm>
            <a:off x="467523" y="272964"/>
            <a:ext cx="6738598" cy="65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22B42"/>
                </a:solidFill>
                <a:latin typeface="Aptos" panose="020B0004020202020204" pitchFamily="34" charset="0"/>
              </a:rPr>
              <a:t>Paper Methodology Architecture</a:t>
            </a:r>
          </a:p>
          <a:p>
            <a:endParaRPr lang="en-IN" sz="1050" dirty="0">
              <a:solidFill>
                <a:srgbClr val="606C7A"/>
              </a:solidFill>
              <a:latin typeface="Aptos" panose="020B0004020202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C977277-727F-51CD-5A33-43B5DA2ABF86}"/>
              </a:ext>
            </a:extLst>
          </p:cNvPr>
          <p:cNvSpPr/>
          <p:nvPr/>
        </p:nvSpPr>
        <p:spPr>
          <a:xfrm>
            <a:off x="442943" y="3429000"/>
            <a:ext cx="3912747" cy="2942303"/>
          </a:xfrm>
          <a:prstGeom prst="roundRect">
            <a:avLst/>
          </a:prstGeom>
          <a:solidFill>
            <a:srgbClr val="E7EDF2"/>
          </a:solidFill>
          <a:ln>
            <a:solidFill>
              <a:srgbClr val="E7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50E742B-2734-53A9-9619-18930BE5FE2E}"/>
              </a:ext>
            </a:extLst>
          </p:cNvPr>
          <p:cNvSpPr/>
          <p:nvPr/>
        </p:nvSpPr>
        <p:spPr>
          <a:xfrm>
            <a:off x="4611329" y="3429001"/>
            <a:ext cx="7256206" cy="3005282"/>
          </a:xfrm>
          <a:prstGeom prst="roundRect">
            <a:avLst/>
          </a:prstGeom>
          <a:solidFill>
            <a:srgbClr val="E7EDF2"/>
          </a:solidFill>
          <a:ln>
            <a:solidFill>
              <a:srgbClr val="E7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B52BE1-A9FD-D3D9-A5F0-B8925F1890D6}"/>
              </a:ext>
            </a:extLst>
          </p:cNvPr>
          <p:cNvSpPr txBox="1"/>
          <p:nvPr/>
        </p:nvSpPr>
        <p:spPr>
          <a:xfrm>
            <a:off x="585183" y="3520798"/>
            <a:ext cx="3695536" cy="2931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ptos" panose="020B0004020202020204" pitchFamily="34" charset="0"/>
              </a:rPr>
              <a:t>Evaluation Metrics :- </a:t>
            </a:r>
          </a:p>
          <a:p>
            <a:endParaRPr lang="en-IN" sz="2000" b="1" dirty="0">
              <a:latin typeface="Aptos" panose="020B0004020202020204" pitchFamily="34" charset="0"/>
            </a:endParaRP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700" dirty="0">
                <a:latin typeface="Aptos" panose="020B0004020202020204" pitchFamily="34" charset="0"/>
              </a:rPr>
              <a:t>• R² Score (coefficient of determination) - fraction of variance explained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700" dirty="0">
                <a:latin typeface="Aptos" panose="020B0004020202020204" pitchFamily="34" charset="0"/>
              </a:rPr>
              <a:t>• RMSE &amp; MAE - prediction error magnitude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700" dirty="0">
                <a:latin typeface="Aptos" panose="020B0004020202020204" pitchFamily="34" charset="0"/>
              </a:rPr>
              <a:t>• MAPE (%) - percentage error for interpretability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0ED070-FB65-2DCB-94E8-AC4C7FA7F131}"/>
              </a:ext>
            </a:extLst>
          </p:cNvPr>
          <p:cNvSpPr txBox="1"/>
          <p:nvPr/>
        </p:nvSpPr>
        <p:spPr>
          <a:xfrm>
            <a:off x="4709652" y="3532313"/>
            <a:ext cx="748234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ptos" panose="020B0004020202020204" pitchFamily="34" charset="0"/>
              </a:rPr>
              <a:t>Evaluation Metrics for classification </a:t>
            </a:r>
          </a:p>
          <a:p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Accuracy :- Total correct predictions out of all  predictions.</a:t>
            </a:r>
          </a:p>
          <a:p>
            <a:r>
              <a:rPr lang="en-IN" dirty="0">
                <a:latin typeface="Aptos" panose="020B0004020202020204" pitchFamily="34" charset="0"/>
              </a:rPr>
              <a:t>Precision :-Correctly predicted positive out of all predicted positives.</a:t>
            </a:r>
          </a:p>
          <a:p>
            <a:r>
              <a:rPr lang="en-IN" dirty="0">
                <a:latin typeface="Aptos" panose="020B0004020202020204" pitchFamily="34" charset="0"/>
              </a:rPr>
              <a:t>F1 score:-Harmonic mean of precision and recall.</a:t>
            </a:r>
          </a:p>
          <a:p>
            <a:r>
              <a:rPr lang="en-IN" dirty="0">
                <a:latin typeface="Aptos" panose="020B0004020202020204" pitchFamily="34" charset="0"/>
              </a:rPr>
              <a:t>K-fold Cross validation :- </a:t>
            </a:r>
            <a:r>
              <a:rPr lang="en-US" dirty="0"/>
              <a:t>Splits data into K parts and trains/tests the model   K times using different splits.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Confusion Matrix :- </a:t>
            </a:r>
            <a:r>
              <a:rPr lang="en-US" dirty="0"/>
              <a:t>Table showing actual vs predicted values to evaluate classification performance.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3A8EECAF-37EB-629D-B3E7-5CF422290086}"/>
              </a:ext>
            </a:extLst>
          </p:cNvPr>
          <p:cNvSpPr/>
          <p:nvPr/>
        </p:nvSpPr>
        <p:spPr>
          <a:xfrm>
            <a:off x="467523" y="1156279"/>
            <a:ext cx="11232864" cy="1960548"/>
          </a:xfrm>
          <a:prstGeom prst="roundRect">
            <a:avLst/>
          </a:prstGeom>
          <a:solidFill>
            <a:srgbClr val="E7EDF2"/>
          </a:solidFill>
          <a:ln>
            <a:solidFill>
              <a:srgbClr val="E7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7A38A-279B-D246-0F95-99E5F016EDFA}"/>
              </a:ext>
            </a:extLst>
          </p:cNvPr>
          <p:cNvSpPr txBox="1"/>
          <p:nvPr/>
        </p:nvSpPr>
        <p:spPr>
          <a:xfrm>
            <a:off x="737583" y="1351723"/>
            <a:ext cx="11232864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ptos" panose="020B0004020202020204" pitchFamily="34" charset="0"/>
              </a:rPr>
              <a:t>Hyper-Parameter Optimization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600" dirty="0">
                <a:latin typeface="Aptos" panose="020B0004020202020204" pitchFamily="34" charset="0"/>
              </a:rPr>
              <a:t>• Grid Search &amp; Random Search for finding optimal parameters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600" dirty="0">
                <a:latin typeface="Aptos" panose="020B0004020202020204" pitchFamily="34" charset="0"/>
              </a:rPr>
              <a:t>• K-fold cross-validation (5-fold) for robust performance estimation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600" dirty="0">
                <a:latin typeface="Aptos" panose="020B0004020202020204" pitchFamily="34" charset="0"/>
              </a:rPr>
              <a:t>• SVR tuning: kernel type, regularization parameter C, epsilon (</a:t>
            </a:r>
            <a:r>
              <a:rPr lang="el-GR" sz="1600" dirty="0">
                <a:latin typeface="Aptos" panose="020B0004020202020204" pitchFamily="34" charset="0"/>
              </a:rPr>
              <a:t>ε), </a:t>
            </a:r>
            <a:r>
              <a:rPr lang="en-IN" sz="1600" dirty="0">
                <a:latin typeface="Aptos" panose="020B0004020202020204" pitchFamily="34" charset="0"/>
              </a:rPr>
              <a:t>gamma (</a:t>
            </a:r>
            <a:r>
              <a:rPr lang="el-GR" sz="1600" dirty="0">
                <a:latin typeface="Aptos" panose="020B0004020202020204" pitchFamily="34" charset="0"/>
              </a:rPr>
              <a:t>γ)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l-GR" sz="1600" dirty="0">
                <a:latin typeface="Aptos" panose="020B0004020202020204" pitchFamily="34" charset="0"/>
              </a:rPr>
              <a:t>• </a:t>
            </a:r>
            <a:r>
              <a:rPr lang="en-IN" sz="1600" dirty="0">
                <a:latin typeface="Aptos" panose="020B0004020202020204" pitchFamily="34" charset="0"/>
              </a:rPr>
              <a:t>XGBoost tuning: Learning Rate, Max Depth, Number of Estimators, Subsample, Gamma</a:t>
            </a:r>
          </a:p>
          <a:p>
            <a:endParaRPr lang="en-IN" sz="17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106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4B5F2-8A8B-FF9B-0305-0DF50EB1E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6D0872-F657-792A-4BDA-F63A51D16AB1}"/>
              </a:ext>
            </a:extLst>
          </p:cNvPr>
          <p:cNvSpPr/>
          <p:nvPr/>
        </p:nvSpPr>
        <p:spPr>
          <a:xfrm>
            <a:off x="0" y="1"/>
            <a:ext cx="12192000" cy="1011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C5AA22-5FDC-0EB0-35C1-9B7FDB4323E5}"/>
              </a:ext>
            </a:extLst>
          </p:cNvPr>
          <p:cNvSpPr txBox="1"/>
          <p:nvPr/>
        </p:nvSpPr>
        <p:spPr>
          <a:xfrm>
            <a:off x="537273" y="245088"/>
            <a:ext cx="6738598" cy="65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rgbClr val="122B42"/>
                </a:solidFill>
                <a:latin typeface="Aptos" panose="020B0004020202020204" pitchFamily="34" charset="0"/>
              </a:rPr>
              <a:t>Explainable AI (X-AI) Methods :- </a:t>
            </a:r>
            <a:endParaRPr sz="2600" b="1" dirty="0">
              <a:solidFill>
                <a:srgbClr val="122B42"/>
              </a:solidFill>
              <a:latin typeface="Aptos" panose="020B0004020202020204" pitchFamily="34" charset="0"/>
            </a:endParaRPr>
          </a:p>
          <a:p>
            <a:endParaRPr lang="en-IN" sz="1050" dirty="0">
              <a:solidFill>
                <a:srgbClr val="606C7A"/>
              </a:solidFill>
              <a:latin typeface="Aptos" panose="020B0004020202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7C8A127-70A5-F7B1-1D09-D2354D3079A9}"/>
              </a:ext>
            </a:extLst>
          </p:cNvPr>
          <p:cNvSpPr/>
          <p:nvPr/>
        </p:nvSpPr>
        <p:spPr>
          <a:xfrm>
            <a:off x="442943" y="3429000"/>
            <a:ext cx="5747386" cy="2942303"/>
          </a:xfrm>
          <a:prstGeom prst="roundRect">
            <a:avLst/>
          </a:prstGeom>
          <a:solidFill>
            <a:srgbClr val="E7EDF2"/>
          </a:solidFill>
          <a:ln>
            <a:solidFill>
              <a:srgbClr val="E7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A51E5C1-CF0A-DF0F-A145-87F5DE7307DF}"/>
              </a:ext>
            </a:extLst>
          </p:cNvPr>
          <p:cNvSpPr/>
          <p:nvPr/>
        </p:nvSpPr>
        <p:spPr>
          <a:xfrm>
            <a:off x="6508955" y="3366021"/>
            <a:ext cx="4945625" cy="3005282"/>
          </a:xfrm>
          <a:prstGeom prst="roundRect">
            <a:avLst/>
          </a:prstGeom>
          <a:solidFill>
            <a:srgbClr val="E7EDF2"/>
          </a:solidFill>
          <a:ln>
            <a:solidFill>
              <a:srgbClr val="E7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0829A8-FC6C-B52C-B6E8-447405A8046D}"/>
              </a:ext>
            </a:extLst>
          </p:cNvPr>
          <p:cNvSpPr txBox="1"/>
          <p:nvPr/>
        </p:nvSpPr>
        <p:spPr>
          <a:xfrm>
            <a:off x="537273" y="3532313"/>
            <a:ext cx="5653056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ptos" panose="020B0004020202020204" pitchFamily="34" charset="0"/>
              </a:rPr>
              <a:t>LIME ( Local Interpretable Model – Agnostic Explanations):- </a:t>
            </a:r>
          </a:p>
          <a:p>
            <a:endParaRPr lang="en-IN" sz="1700" b="1" dirty="0">
              <a:latin typeface="Aptos" panose="020B0004020202020204" pitchFamily="34" charset="0"/>
            </a:endParaRP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700" dirty="0"/>
              <a:t>• Approximates complex model with simpler, interpretable model locally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700" dirty="0"/>
              <a:t>• Explains individual predictions: why was this crop recommended?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700" dirty="0"/>
              <a:t>• Identifies key feature ranges affecting each prediction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700" dirty="0"/>
              <a:t>• Makes ML decisions transparent for farmer adoption &amp; trust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10CDCA-1219-F453-CBE1-62A471B6B811}"/>
              </a:ext>
            </a:extLst>
          </p:cNvPr>
          <p:cNvSpPr txBox="1"/>
          <p:nvPr/>
        </p:nvSpPr>
        <p:spPr>
          <a:xfrm>
            <a:off x="6646606" y="3588253"/>
            <a:ext cx="4807974" cy="2623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ptos" panose="020B0004020202020204" pitchFamily="34" charset="0"/>
              </a:rPr>
              <a:t>Impact on Agriculture Decision Making</a:t>
            </a:r>
          </a:p>
          <a:p>
            <a:endParaRPr lang="en-IN" sz="1700" dirty="0">
              <a:latin typeface="Aptos" panose="020B0004020202020204" pitchFamily="34" charset="0"/>
            </a:endParaRP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700" dirty="0"/>
              <a:t>• Farmers understand which soil/weather factors matter for their field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700" dirty="0"/>
              <a:t>• Policy makers can design interventions targeting key factors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700" dirty="0"/>
              <a:t>• Builds confidence in AI systems for sustainable farming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51EBD1C5-996A-769F-FD95-209F4F183AA7}"/>
              </a:ext>
            </a:extLst>
          </p:cNvPr>
          <p:cNvSpPr/>
          <p:nvPr/>
        </p:nvSpPr>
        <p:spPr>
          <a:xfrm>
            <a:off x="467523" y="1156279"/>
            <a:ext cx="6808348" cy="1960548"/>
          </a:xfrm>
          <a:prstGeom prst="roundRect">
            <a:avLst/>
          </a:prstGeom>
          <a:solidFill>
            <a:srgbClr val="E7EDF2"/>
          </a:solidFill>
          <a:ln>
            <a:solidFill>
              <a:srgbClr val="E7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C8C74-AD0A-3460-CE75-3A62F000D5D6}"/>
              </a:ext>
            </a:extLst>
          </p:cNvPr>
          <p:cNvSpPr txBox="1"/>
          <p:nvPr/>
        </p:nvSpPr>
        <p:spPr>
          <a:xfrm>
            <a:off x="737583" y="1351723"/>
            <a:ext cx="6538288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ptos" panose="020B0004020202020204" pitchFamily="34" charset="0"/>
              </a:rPr>
              <a:t>Feature Important Analysis 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600" dirty="0">
                <a:latin typeface="Aptos" panose="020B0004020202020204" pitchFamily="34" charset="0"/>
              </a:rPr>
              <a:t>• Identify which features most impact model predictions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600" dirty="0">
                <a:latin typeface="Aptos" panose="020B0004020202020204" pitchFamily="34" charset="0"/>
              </a:rPr>
              <a:t>• Tree-based importance: MDI (Mean Decrease in Impurity)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600" dirty="0">
                <a:latin typeface="Aptos" panose="020B0004020202020204" pitchFamily="34" charset="0"/>
              </a:rPr>
              <a:t>• Permutation importance: Feature removal → accuracy drop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600" dirty="0">
                <a:latin typeface="Aptos" panose="020B0004020202020204" pitchFamily="34" charset="0"/>
              </a:rPr>
              <a:t>• Reveals agronomic insights: N, Rainfall, Temperature are most critical</a:t>
            </a:r>
          </a:p>
          <a:p>
            <a:endParaRPr lang="en-IN" sz="17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771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A2999E-F39D-38B1-A657-0363B99BEC15}"/>
              </a:ext>
            </a:extLst>
          </p:cNvPr>
          <p:cNvSpPr/>
          <p:nvPr/>
        </p:nvSpPr>
        <p:spPr>
          <a:xfrm>
            <a:off x="0" y="1"/>
            <a:ext cx="12192000" cy="1011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8640" y="256032"/>
            <a:ext cx="352237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22B42"/>
                </a:solidFill>
                <a:latin typeface="Aptos Display"/>
              </a:rPr>
              <a:t>Paper Reported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029200" cy="44680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r>
              <a:rPr lang="en-US" dirty="0">
                <a:latin typeface="Aptos" panose="020B0004020202020204" pitchFamily="34" charset="0"/>
              </a:rPr>
              <a:t>Best classifier reported: </a:t>
            </a:r>
            <a:r>
              <a:rPr lang="en-US" b="1" i="1" dirty="0">
                <a:latin typeface="Aptos" panose="020B0004020202020204" pitchFamily="34" charset="0"/>
              </a:rPr>
              <a:t>Random Forest with 99.7% accuracy.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r>
              <a:rPr lang="en-US" dirty="0">
                <a:latin typeface="Aptos" panose="020B0004020202020204" pitchFamily="34" charset="0"/>
              </a:rPr>
              <a:t>Best regressor reported: </a:t>
            </a:r>
            <a:r>
              <a:rPr lang="en-US" b="1" i="1" dirty="0">
                <a:latin typeface="Aptos" panose="020B0004020202020204" pitchFamily="34" charset="0"/>
              </a:rPr>
              <a:t>Support Vector Regressor with 99.99% </a:t>
            </a:r>
            <a:r>
              <a:rPr lang="en-US" sz="1700" b="1" dirty="0">
                <a:latin typeface="Aptos" panose="020B0004020202020204" pitchFamily="34" charset="0"/>
              </a:rPr>
              <a:t>R²</a:t>
            </a:r>
            <a:r>
              <a:rPr lang="en-US" dirty="0">
                <a:latin typeface="Aptos" panose="020B0004020202020204" pitchFamily="34" charset="0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r>
              <a:rPr lang="en-US" dirty="0">
                <a:latin typeface="Aptos" panose="020B0004020202020204" pitchFamily="34" charset="0"/>
              </a:rPr>
              <a:t>The paper frames these outcomes as evidence for robust agricultural decision support.</a:t>
            </a:r>
          </a:p>
          <a:p>
            <a:r>
              <a:rPr lang="en-US" dirty="0">
                <a:latin typeface="Aptos" panose="020B0004020202020204" pitchFamily="34" charset="0"/>
              </a:rPr>
              <a:t>Additional Findings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i="1" dirty="0">
                <a:latin typeface="Aptos" panose="020B0004020202020204" pitchFamily="34" charset="0"/>
              </a:rPr>
              <a:t>K-Fold Cross Validation</a:t>
            </a:r>
            <a:r>
              <a:rPr lang="en-US" i="1" dirty="0">
                <a:latin typeface="Aptos" panose="020B0004020202020204" pitchFamily="34" charset="0"/>
              </a:rPr>
              <a:t> </a:t>
            </a:r>
            <a:r>
              <a:rPr lang="en-US" dirty="0">
                <a:latin typeface="Aptos" panose="020B0004020202020204" pitchFamily="34" charset="0"/>
              </a:rPr>
              <a:t>improved reliability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Aptos" panose="020B0004020202020204" pitchFamily="34" charset="0"/>
              </a:rPr>
              <a:t>Feature Engineering</a:t>
            </a:r>
            <a:r>
              <a:rPr lang="en-US" dirty="0">
                <a:latin typeface="Aptos" panose="020B0004020202020204" pitchFamily="34" charset="0"/>
              </a:rPr>
              <a:t> boosted model performance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Aptos" panose="020B0004020202020204" pitchFamily="34" charset="0"/>
              </a:rPr>
              <a:t>MICE Imputation</a:t>
            </a:r>
            <a:r>
              <a:rPr lang="en-US" dirty="0">
                <a:latin typeface="Aptos" panose="020B0004020202020204" pitchFamily="34" charset="0"/>
              </a:rPr>
              <a:t> successfully handled missing data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Aptos" panose="020B0004020202020204" pitchFamily="34" charset="0"/>
              </a:rPr>
              <a:t>Explainable AI (LIME + Feature Importance)</a:t>
            </a:r>
            <a:r>
              <a:rPr lang="en-US" dirty="0">
                <a:latin typeface="Aptos" panose="020B0004020202020204" pitchFamily="34" charset="0"/>
              </a:rPr>
              <a:t> made predictions interpretable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endParaRPr lang="en-IN" dirty="0">
              <a:latin typeface="Aptos" panose="020B00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400282"/>
              </p:ext>
            </p:extLst>
          </p:nvPr>
        </p:nvGraphicFramePr>
        <p:xfrm>
          <a:off x="5989320" y="1353902"/>
          <a:ext cx="5394960" cy="5374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5773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/>
                        <a:t>Regressor</a:t>
                      </a:r>
                    </a:p>
                  </a:txBody>
                  <a:tcPr>
                    <a:solidFill>
                      <a:srgbClr val="225E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/>
                        <a:t>MAE</a:t>
                      </a:r>
                    </a:p>
                  </a:txBody>
                  <a:tcPr>
                    <a:solidFill>
                      <a:srgbClr val="225E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/>
                        <a:t>MSE</a:t>
                      </a:r>
                    </a:p>
                  </a:txBody>
                  <a:tcPr>
                    <a:solidFill>
                      <a:srgbClr val="225E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/>
                        <a:t>RMSE</a:t>
                      </a:r>
                    </a:p>
                  </a:txBody>
                  <a:tcPr>
                    <a:solidFill>
                      <a:srgbClr val="225E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/>
                        <a:t>Std. Dev.</a:t>
                      </a:r>
                    </a:p>
                  </a:txBody>
                  <a:tcPr>
                    <a:solidFill>
                      <a:srgbClr val="225E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773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SVR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0.1614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0.1047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0.3236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26.97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773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KNNR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0.4540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0.3538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0.5948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26.92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773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 err="1"/>
                        <a:t>XGBoostR</a:t>
                      </a:r>
                      <a:endParaRPr sz="16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0.4407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0.4346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0.6592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27.13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5773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RFR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0.3931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0.3754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0.6127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27.05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5773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DTR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0.4282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0.4289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0.6549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A3036"/>
                          </a:solidFill>
                          <a:latin typeface="Aptos"/>
                        </a:defRPr>
                      </a:pPr>
                      <a:r>
                        <a:rPr sz="1600" dirty="0"/>
                        <a:t>27.14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EA71FB-A493-B372-CE35-BF41606B1F6D}"/>
              </a:ext>
            </a:extLst>
          </p:cNvPr>
          <p:cNvSpPr/>
          <p:nvPr/>
        </p:nvSpPr>
        <p:spPr>
          <a:xfrm>
            <a:off x="0" y="1"/>
            <a:ext cx="12192000" cy="1011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8640" y="256032"/>
            <a:ext cx="554966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22B42"/>
                </a:solidFill>
                <a:latin typeface="Aptos Display"/>
              </a:rPr>
              <a:t>Paper Contributions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32029"/>
            <a:ext cx="4826000" cy="435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Contributions </a:t>
            </a:r>
          </a:p>
          <a:p>
            <a:r>
              <a:rPr lang="en-IN" dirty="0">
                <a:latin typeface="Aptos" panose="020B0004020202020204" pitchFamily="34" charset="0"/>
              </a:rPr>
              <a:t>Developed a </a:t>
            </a:r>
            <a:r>
              <a:rPr lang="en-IN" b="1" dirty="0">
                <a:latin typeface="Aptos" panose="020B0004020202020204" pitchFamily="34" charset="0"/>
              </a:rPr>
              <a:t>dual ML system</a:t>
            </a:r>
            <a:r>
              <a:rPr lang="en-IN" dirty="0">
                <a:latin typeface="Aptos" panose="020B0004020202020204" pitchFamily="34" charset="0"/>
              </a:rPr>
              <a:t>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Crop recommendation (classification)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Yield prediction (regression)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Compared multiple ML models and identified: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Random Forest</a:t>
            </a:r>
            <a:r>
              <a:rPr lang="en-IN" dirty="0">
                <a:latin typeface="Aptos" panose="020B0004020202020204" pitchFamily="34" charset="0"/>
              </a:rPr>
              <a:t> (best for classification)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SVR</a:t>
            </a:r>
            <a:r>
              <a:rPr lang="en-IN" dirty="0">
                <a:latin typeface="Aptos" panose="020B0004020202020204" pitchFamily="34" charset="0"/>
              </a:rPr>
              <a:t> (best for regression)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Used </a:t>
            </a:r>
            <a:r>
              <a:rPr lang="en-IN" b="1" dirty="0">
                <a:latin typeface="Aptos" panose="020B0004020202020204" pitchFamily="34" charset="0"/>
              </a:rPr>
              <a:t>feature engineering + K-Fold validation</a:t>
            </a:r>
            <a:r>
              <a:rPr lang="en-IN" dirty="0">
                <a:latin typeface="Aptos" panose="020B0004020202020204" pitchFamily="34" charset="0"/>
              </a:rPr>
              <a:t> to improve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Applied </a:t>
            </a:r>
            <a:r>
              <a:rPr lang="en-IN" b="1" dirty="0">
                <a:latin typeface="Aptos" panose="020B0004020202020204" pitchFamily="34" charset="0"/>
              </a:rPr>
              <a:t>MICE imputation</a:t>
            </a:r>
            <a:r>
              <a:rPr lang="en-IN" dirty="0">
                <a:latin typeface="Aptos" panose="020B0004020202020204" pitchFamily="34" charset="0"/>
              </a:rPr>
              <a:t> to handle missing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Integrated </a:t>
            </a:r>
            <a:r>
              <a:rPr lang="en-IN" b="1" dirty="0">
                <a:latin typeface="Aptos" panose="020B0004020202020204" pitchFamily="34" charset="0"/>
              </a:rPr>
              <a:t>Explainable AI (LIME + Feature Importance)</a:t>
            </a:r>
            <a:r>
              <a:rPr lang="en-IN" dirty="0">
                <a:latin typeface="Aptos" panose="020B0004020202020204" pitchFamily="34" charset="0"/>
              </a:rPr>
              <a:t> for transparency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A3036"/>
                </a:solidFill>
                <a:latin typeface="Aptos"/>
              </a:defRPr>
            </a:pPr>
            <a:endParaRPr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7525B-9FA9-454F-4EF1-269FE9768E07}"/>
              </a:ext>
            </a:extLst>
          </p:cNvPr>
          <p:cNvSpPr txBox="1"/>
          <p:nvPr/>
        </p:nvSpPr>
        <p:spPr>
          <a:xfrm>
            <a:off x="5699760" y="1532029"/>
            <a:ext cx="50698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Future Scope (In Brief)</a:t>
            </a:r>
          </a:p>
          <a:p>
            <a:r>
              <a:rPr lang="en-IN" dirty="0">
                <a:latin typeface="Aptos" panose="020B0004020202020204" pitchFamily="34" charset="0"/>
              </a:rPr>
              <a:t>🌱 Use </a:t>
            </a:r>
            <a:r>
              <a:rPr lang="en-IN" b="1" dirty="0">
                <a:latin typeface="Aptos" panose="020B0004020202020204" pitchFamily="34" charset="0"/>
              </a:rPr>
              <a:t>real-time data</a:t>
            </a:r>
            <a:r>
              <a:rPr lang="en-IN" dirty="0">
                <a:latin typeface="Aptos" panose="020B0004020202020204" pitchFamily="34" charset="0"/>
              </a:rPr>
              <a:t> (IoT sensors, weather APIs) </a:t>
            </a:r>
          </a:p>
          <a:p>
            <a:r>
              <a:rPr lang="en-IN" dirty="0">
                <a:latin typeface="Aptos" panose="020B0004020202020204" pitchFamily="34" charset="0"/>
              </a:rPr>
              <a:t>🌍 Extend model to </a:t>
            </a:r>
            <a:r>
              <a:rPr lang="en-IN" b="1" dirty="0">
                <a:latin typeface="Aptos" panose="020B0004020202020204" pitchFamily="34" charset="0"/>
              </a:rPr>
              <a:t>other regions/countries</a:t>
            </a:r>
            <a:r>
              <a:rPr lang="en-IN" dirty="0">
                <a:latin typeface="Aptos" panose="020B0004020202020204" pitchFamily="34" charset="0"/>
              </a:rPr>
              <a:t> </a:t>
            </a:r>
          </a:p>
          <a:p>
            <a:r>
              <a:rPr lang="en-IN" dirty="0">
                <a:latin typeface="Aptos" panose="020B0004020202020204" pitchFamily="34" charset="0"/>
              </a:rPr>
              <a:t>🛰️ Incorporate </a:t>
            </a:r>
            <a:r>
              <a:rPr lang="en-IN" b="1" dirty="0">
                <a:latin typeface="Aptos" panose="020B0004020202020204" pitchFamily="34" charset="0"/>
              </a:rPr>
              <a:t>satellite &amp; image data</a:t>
            </a:r>
            <a:r>
              <a:rPr lang="en-IN" dirty="0">
                <a:latin typeface="Aptos" panose="020B0004020202020204" pitchFamily="34" charset="0"/>
              </a:rPr>
              <a:t> </a:t>
            </a:r>
          </a:p>
          <a:p>
            <a:r>
              <a:rPr lang="en-IN" dirty="0">
                <a:latin typeface="Aptos" panose="020B0004020202020204" pitchFamily="34" charset="0"/>
              </a:rPr>
              <a:t>🤖 Apply </a:t>
            </a:r>
            <a:r>
              <a:rPr lang="en-IN" b="1" dirty="0">
                <a:latin typeface="Aptos" panose="020B0004020202020204" pitchFamily="34" charset="0"/>
              </a:rPr>
              <a:t>deep learning models</a:t>
            </a:r>
            <a:r>
              <a:rPr lang="en-IN" dirty="0">
                <a:latin typeface="Aptos" panose="020B0004020202020204" pitchFamily="34" charset="0"/>
              </a:rPr>
              <a:t> for better accuracy </a:t>
            </a:r>
          </a:p>
          <a:p>
            <a:r>
              <a:rPr lang="en-IN" dirty="0">
                <a:latin typeface="Aptos" panose="020B0004020202020204" pitchFamily="34" charset="0"/>
              </a:rPr>
              <a:t>📱 Develop </a:t>
            </a:r>
            <a:r>
              <a:rPr lang="en-IN" b="1" dirty="0">
                <a:latin typeface="Aptos" panose="020B0004020202020204" pitchFamily="34" charset="0"/>
              </a:rPr>
              <a:t>farmer-friendly apps/tools</a:t>
            </a:r>
            <a:endParaRPr lang="en-IN" dirty="0">
              <a:latin typeface="Aptos" panose="020B0004020202020204" pitchFamily="34" charset="0"/>
            </a:endParaRPr>
          </a:p>
          <a:p>
            <a:pPr>
              <a:buNone/>
            </a:pPr>
            <a:endParaRPr lang="en-IN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DDAD0-A2E4-06ED-7B4B-6D692E76E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32768F-8948-5E52-C3EA-0CF3316FF9F1}"/>
              </a:ext>
            </a:extLst>
          </p:cNvPr>
          <p:cNvSpPr/>
          <p:nvPr/>
        </p:nvSpPr>
        <p:spPr>
          <a:xfrm>
            <a:off x="-80425" y="1595564"/>
            <a:ext cx="12193768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ptos" panose="020B0004020202020204" pitchFamily="34" charset="0"/>
              </a:rPr>
              <a:t>PART 2 : </a:t>
            </a:r>
            <a:r>
              <a:rPr lang="en-IN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ptos" panose="020B0004020202020204" pitchFamily="34" charset="0"/>
              </a:rPr>
              <a:t>CODE IMPLEMENTATION AND ANALYSIS</a:t>
            </a:r>
            <a:endParaRPr lang="en-IN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ptos" panose="020B0004020202020204" pitchFamily="34" charset="0"/>
            </a:endParaRPr>
          </a:p>
          <a:p>
            <a:pPr algn="ctr"/>
            <a:endParaRPr lang="en-IN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ptos" panose="020B0004020202020204" pitchFamily="34" charset="0"/>
            </a:endParaRPr>
          </a:p>
          <a:p>
            <a:pPr algn="ctr"/>
            <a:r>
              <a:rPr lang="en-IN" sz="45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ptos" panose="020B0004020202020204" pitchFamily="34" charset="0"/>
              </a:rPr>
              <a:t>TRANSLATING RESEARCH INTO WORKING MODELS</a:t>
            </a:r>
            <a:endParaRPr lang="en-IN" sz="45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105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3A9C0-ADB1-C5BC-A004-B9EEEB670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221F9DC-DECD-2793-1141-2F4AAF7170FB}"/>
              </a:ext>
            </a:extLst>
          </p:cNvPr>
          <p:cNvSpPr/>
          <p:nvPr/>
        </p:nvSpPr>
        <p:spPr>
          <a:xfrm>
            <a:off x="537273" y="3569560"/>
            <a:ext cx="6150076" cy="1100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66EF7F-866D-F11D-D1B2-AE2BAD4B7B07}"/>
              </a:ext>
            </a:extLst>
          </p:cNvPr>
          <p:cNvSpPr/>
          <p:nvPr/>
        </p:nvSpPr>
        <p:spPr>
          <a:xfrm>
            <a:off x="0" y="1"/>
            <a:ext cx="12192000" cy="1011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A1C2EC-5B78-1E7B-2416-21A8B4E05833}"/>
              </a:ext>
            </a:extLst>
          </p:cNvPr>
          <p:cNvSpPr txBox="1"/>
          <p:nvPr/>
        </p:nvSpPr>
        <p:spPr>
          <a:xfrm>
            <a:off x="537273" y="245088"/>
            <a:ext cx="6738598" cy="65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rgbClr val="122B42"/>
                </a:solidFill>
                <a:latin typeface="Aptos" panose="020B0004020202020204" pitchFamily="34" charset="0"/>
              </a:rPr>
              <a:t>Code Architecture Overview :- </a:t>
            </a:r>
            <a:endParaRPr sz="2600" b="1" dirty="0">
              <a:solidFill>
                <a:srgbClr val="122B42"/>
              </a:solidFill>
              <a:latin typeface="Aptos" panose="020B0004020202020204" pitchFamily="34" charset="0"/>
            </a:endParaRPr>
          </a:p>
          <a:p>
            <a:endParaRPr lang="en-IN" sz="1050" dirty="0">
              <a:solidFill>
                <a:srgbClr val="606C7A"/>
              </a:solidFill>
              <a:latin typeface="Aptos" panose="020B0004020202020204" pitchFamily="34" charset="0"/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125FB614-4EB3-9CB6-A109-7A97DAC5338A}"/>
              </a:ext>
            </a:extLst>
          </p:cNvPr>
          <p:cNvSpPr/>
          <p:nvPr/>
        </p:nvSpPr>
        <p:spPr>
          <a:xfrm>
            <a:off x="467522" y="1156279"/>
            <a:ext cx="7535935" cy="1923539"/>
          </a:xfrm>
          <a:prstGeom prst="roundRect">
            <a:avLst/>
          </a:prstGeom>
          <a:solidFill>
            <a:srgbClr val="E7EDF2"/>
          </a:solidFill>
          <a:ln>
            <a:solidFill>
              <a:srgbClr val="E7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DE73D-8CCB-4621-BBFC-1CA9B5DD577E}"/>
              </a:ext>
            </a:extLst>
          </p:cNvPr>
          <p:cNvSpPr txBox="1"/>
          <p:nvPr/>
        </p:nvSpPr>
        <p:spPr>
          <a:xfrm>
            <a:off x="737419" y="1279325"/>
            <a:ext cx="783630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ptos" panose="020B0004020202020204" pitchFamily="34" charset="0"/>
              </a:rPr>
              <a:t>Code Implementation Stack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600" dirty="0">
                <a:latin typeface="Aptos" panose="020B0004020202020204" pitchFamily="34" charset="0"/>
              </a:rPr>
              <a:t>• Language: Python 3 with Jupyter Notebook for interactive analysis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600" dirty="0">
                <a:latin typeface="Aptos" panose="020B0004020202020204" pitchFamily="34" charset="0"/>
              </a:rPr>
              <a:t>• ML Libraries: scikit-learn (models, metrics), pandas (data), numpy (arrays)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600" dirty="0">
                <a:latin typeface="Aptos" panose="020B0004020202020204" pitchFamily="34" charset="0"/>
              </a:rPr>
              <a:t>• Visualization: matplotlib, seaborn for comprehensive EDA and results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600" dirty="0">
                <a:latin typeface="Aptos" panose="020B0004020202020204" pitchFamily="34" charset="0"/>
              </a:rPr>
              <a:t>• Tools: StandardScaler for normalization, LabelEncoder for categorical encoding</a:t>
            </a:r>
          </a:p>
          <a:p>
            <a:endParaRPr lang="en-IN" sz="1700" dirty="0">
              <a:latin typeface="Aptos" panose="020B0004020202020204" pitchFamily="34" charset="0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B2D0F284-4090-B151-D110-65923E35D536}"/>
              </a:ext>
            </a:extLst>
          </p:cNvPr>
          <p:cNvSpPr/>
          <p:nvPr/>
        </p:nvSpPr>
        <p:spPr>
          <a:xfrm>
            <a:off x="8121445" y="1279325"/>
            <a:ext cx="4070555" cy="4004030"/>
          </a:xfrm>
          <a:prstGeom prst="roundRect">
            <a:avLst/>
          </a:prstGeom>
          <a:solidFill>
            <a:srgbClr val="E7EDF2"/>
          </a:solidFill>
          <a:ln>
            <a:solidFill>
              <a:srgbClr val="E7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81458-3446-4BD3-3CDB-13D0D78F262A}"/>
              </a:ext>
            </a:extLst>
          </p:cNvPr>
          <p:cNvSpPr txBox="1"/>
          <p:nvPr/>
        </p:nvSpPr>
        <p:spPr>
          <a:xfrm>
            <a:off x="8121445" y="1574646"/>
            <a:ext cx="3854245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ptos" panose="020B0004020202020204" pitchFamily="34" charset="0"/>
              </a:rPr>
              <a:t>What Does the Code Do?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This Python script is a complete machine learning project that analyses agricultural data to help predict two things: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Which crop is best suited for a field? </a:t>
            </a:r>
            <a:r>
              <a:rPr lang="en-IN" dirty="0"/>
              <a:t>(</a:t>
            </a:r>
            <a:r>
              <a:rPr lang="en-IN" b="1" i="1" dirty="0"/>
              <a:t>Classification</a:t>
            </a:r>
            <a:r>
              <a:rPr lang="en-IN" dirty="0"/>
              <a:t> — choosing from 6 crop types)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How much yield </a:t>
            </a:r>
            <a:r>
              <a:rPr lang="en-IN" dirty="0"/>
              <a:t>(in tons per hectare) </a:t>
            </a:r>
            <a:r>
              <a:rPr lang="en-IN" b="1" dirty="0"/>
              <a:t>a field will produce </a:t>
            </a:r>
            <a:r>
              <a:rPr lang="en-IN" dirty="0"/>
              <a:t>(</a:t>
            </a:r>
            <a:r>
              <a:rPr lang="en-IN" b="1" i="1" dirty="0"/>
              <a:t>Regression</a:t>
            </a:r>
            <a:r>
              <a:rPr lang="en-IN" dirty="0"/>
              <a:t> — predicting a number)</a:t>
            </a:r>
          </a:p>
          <a:p>
            <a:endParaRPr lang="en-IN" sz="1700" dirty="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8043BE-B569-9793-940F-9CA7D4C23641}"/>
              </a:ext>
            </a:extLst>
          </p:cNvPr>
          <p:cNvSpPr txBox="1"/>
          <p:nvPr/>
        </p:nvSpPr>
        <p:spPr>
          <a:xfrm>
            <a:off x="467522" y="3658276"/>
            <a:ext cx="61500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228600"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i="1" dirty="0">
                <a:solidFill>
                  <a:srgbClr val="1F4E7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📌 KEY CONCEPT: Classification = predicting a category (e.g., 'grow Wheat'). Regression = predicting a number (e.g., '4.5 tons per hectare').</a:t>
            </a:r>
            <a:endParaRPr lang="en-IN" sz="2400" dirty="0">
              <a:solidFill>
                <a:srgbClr val="222222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147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32EA0-CF85-0D2D-C675-946F8F92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30F3EDF-8D11-E3C0-E226-A156F26F5EF4}"/>
              </a:ext>
            </a:extLst>
          </p:cNvPr>
          <p:cNvSpPr/>
          <p:nvPr/>
        </p:nvSpPr>
        <p:spPr>
          <a:xfrm>
            <a:off x="0" y="1"/>
            <a:ext cx="12192000" cy="1011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8E9F0D-0811-5033-FEF2-28647E1B382D}"/>
              </a:ext>
            </a:extLst>
          </p:cNvPr>
          <p:cNvSpPr txBox="1"/>
          <p:nvPr/>
        </p:nvSpPr>
        <p:spPr>
          <a:xfrm>
            <a:off x="537273" y="245088"/>
            <a:ext cx="6738598" cy="65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rgbClr val="122B42"/>
                </a:solidFill>
                <a:latin typeface="Aptos" panose="020B0004020202020204" pitchFamily="34" charset="0"/>
              </a:rPr>
              <a:t>Code Architecture Overview :- </a:t>
            </a:r>
            <a:endParaRPr sz="2600" b="1" dirty="0">
              <a:solidFill>
                <a:srgbClr val="122B42"/>
              </a:solidFill>
              <a:latin typeface="Aptos" panose="020B0004020202020204" pitchFamily="34" charset="0"/>
            </a:endParaRPr>
          </a:p>
          <a:p>
            <a:endParaRPr lang="en-IN" sz="1050" dirty="0">
              <a:solidFill>
                <a:srgbClr val="606C7A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C409F4-040E-7294-4701-889CD03DA4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451723"/>
              </p:ext>
            </p:extLst>
          </p:nvPr>
        </p:nvGraphicFramePr>
        <p:xfrm>
          <a:off x="537273" y="2457168"/>
          <a:ext cx="9639114" cy="2536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1568">
                  <a:extLst>
                    <a:ext uri="{9D8B030D-6E8A-4147-A177-3AD203B41FA5}">
                      <a16:colId xmlns:a16="http://schemas.microsoft.com/office/drawing/2014/main" val="168796645"/>
                    </a:ext>
                  </a:extLst>
                </a:gridCol>
                <a:gridCol w="7167546">
                  <a:extLst>
                    <a:ext uri="{9D8B030D-6E8A-4147-A177-3AD203B41FA5}">
                      <a16:colId xmlns:a16="http://schemas.microsoft.com/office/drawing/2014/main" val="2735999905"/>
                    </a:ext>
                  </a:extLst>
                </a:gridCol>
              </a:tblGrid>
              <a:tr h="432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  <a:latin typeface="Aptos" panose="020B0004020202020204" pitchFamily="34" charset="0"/>
                        </a:rPr>
                        <a:t>Section</a:t>
                      </a:r>
                      <a:endParaRPr lang="en-IN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  <a:latin typeface="Aptos" panose="020B0004020202020204" pitchFamily="34" charset="0"/>
                        </a:rPr>
                        <a:t>What it Does</a:t>
                      </a:r>
                      <a:endParaRPr lang="en-IN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40870"/>
                  </a:ext>
                </a:extLst>
              </a:tr>
              <a:tr h="3718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effectLst/>
                          <a:latin typeface="Aptos" panose="020B0004020202020204" pitchFamily="34" charset="0"/>
                        </a:rPr>
                        <a:t>Section 0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effectLst/>
                          <a:latin typeface="Aptos" panose="020B0004020202020204" pitchFamily="34" charset="0"/>
                        </a:rPr>
                        <a:t>Loads data and performs basic EDA — getting to know the data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956254511"/>
                  </a:ext>
                </a:extLst>
              </a:tr>
              <a:tr h="432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Section 1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effectLst/>
                          <a:latin typeface="Aptos" panose="020B0004020202020204" pitchFamily="34" charset="0"/>
                        </a:rPr>
                        <a:t>Preprocessing — cleaning, encoding, and normalising the data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853639080"/>
                  </a:ext>
                </a:extLst>
              </a:tr>
              <a:tr h="432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Section A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effectLst/>
                          <a:latin typeface="Aptos" panose="020B0004020202020204" pitchFamily="34" charset="0"/>
                        </a:rPr>
                        <a:t>Classification — testing 7 different algorithms to predict crop type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40450357"/>
                  </a:ext>
                </a:extLst>
              </a:tr>
              <a:tr h="432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Section B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effectLst/>
                          <a:latin typeface="Aptos" panose="020B0004020202020204" pitchFamily="34" charset="0"/>
                        </a:rPr>
                        <a:t>Regression — testing 7 algorithms to predict crop yield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717682243"/>
                  </a:ext>
                </a:extLst>
              </a:tr>
              <a:tr h="432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Section C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effectLst/>
                          <a:latin typeface="Aptos" panose="020B0004020202020204" pitchFamily="34" charset="0"/>
                        </a:rPr>
                        <a:t>Feature Importance — which input variables matter most?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645440735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EEA089D9-ABF1-72E4-A927-E5852AD47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73" y="1364090"/>
            <a:ext cx="5631926" cy="57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77744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E75B6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The Code is Organized into </a:t>
            </a:r>
            <a:r>
              <a:rPr lang="en-US" altLang="en-US" sz="2000" b="1" dirty="0">
                <a:solidFill>
                  <a:srgbClr val="2E75B6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following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E75B6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Sections..</a:t>
            </a:r>
          </a:p>
        </p:txBody>
      </p:sp>
    </p:spTree>
    <p:extLst>
      <p:ext uri="{BB962C8B-B14F-4D97-AF65-F5344CB8AC3E}">
        <p14:creationId xmlns:p14="http://schemas.microsoft.com/office/powerpoint/2010/main" val="2294301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D5F4F-5D0D-18E6-2B60-082B822B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253E70A-65A0-C497-E22B-3D672250CBBD}"/>
              </a:ext>
            </a:extLst>
          </p:cNvPr>
          <p:cNvSpPr/>
          <p:nvPr/>
        </p:nvSpPr>
        <p:spPr>
          <a:xfrm>
            <a:off x="0" y="1"/>
            <a:ext cx="12192000" cy="1011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73490F-4D8F-6D4F-80F0-C2B4CC0CE9FC}"/>
              </a:ext>
            </a:extLst>
          </p:cNvPr>
          <p:cNvSpPr txBox="1"/>
          <p:nvPr/>
        </p:nvSpPr>
        <p:spPr>
          <a:xfrm>
            <a:off x="537273" y="125012"/>
            <a:ext cx="673859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rgbClr val="122B42"/>
                </a:solidFill>
                <a:latin typeface="Aptos" panose="020B0004020202020204" pitchFamily="34" charset="0"/>
              </a:rPr>
              <a:t>Load Data and Perform EDA – getting to know data</a:t>
            </a:r>
            <a:endParaRPr lang="en-IN" sz="1050" dirty="0">
              <a:solidFill>
                <a:srgbClr val="606C7A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8E178C-D9D9-9314-AF87-4EDC3FDC3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546512"/>
              </p:ext>
            </p:extLst>
          </p:nvPr>
        </p:nvGraphicFramePr>
        <p:xfrm>
          <a:off x="202223" y="1818196"/>
          <a:ext cx="5473447" cy="2006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8684">
                  <a:extLst>
                    <a:ext uri="{9D8B030D-6E8A-4147-A177-3AD203B41FA5}">
                      <a16:colId xmlns:a16="http://schemas.microsoft.com/office/drawing/2014/main" val="142521595"/>
                    </a:ext>
                  </a:extLst>
                </a:gridCol>
                <a:gridCol w="2334110">
                  <a:extLst>
                    <a:ext uri="{9D8B030D-6E8A-4147-A177-3AD203B41FA5}">
                      <a16:colId xmlns:a16="http://schemas.microsoft.com/office/drawing/2014/main" val="914384466"/>
                    </a:ext>
                  </a:extLst>
                </a:gridCol>
                <a:gridCol w="1960653">
                  <a:extLst>
                    <a:ext uri="{9D8B030D-6E8A-4147-A177-3AD203B41FA5}">
                      <a16:colId xmlns:a16="http://schemas.microsoft.com/office/drawing/2014/main" val="150824358"/>
                    </a:ext>
                  </a:extLst>
                </a:gridCol>
              </a:tblGrid>
              <a:tr h="304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effectLst/>
                        </a:rPr>
                        <a:t>Library</a:t>
                      </a:r>
                      <a:endParaRPr lang="en-IN" sz="1500" b="1" dirty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effectLst/>
                        </a:rPr>
                        <a:t>What it Does</a:t>
                      </a:r>
                      <a:endParaRPr lang="en-IN" sz="1500" b="1" dirty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effectLst/>
                        </a:rPr>
                        <a:t>Analogy</a:t>
                      </a:r>
                      <a:endParaRPr lang="en-IN" sz="1500" b="1" dirty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285735"/>
                  </a:ext>
                </a:extLst>
              </a:tr>
              <a:tr h="304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numpy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</a:rPr>
                        <a:t>Fast number-crunching on arrays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</a:rPr>
                        <a:t>A calculator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696878144"/>
                  </a:ext>
                </a:extLst>
              </a:tr>
              <a:tr h="487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pandas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</a:rPr>
                        <a:t>Loads and manages data in tables (</a:t>
                      </a:r>
                      <a:r>
                        <a:rPr lang="en-IN" sz="1500" dirty="0" err="1">
                          <a:effectLst/>
                        </a:rPr>
                        <a:t>DataFrames</a:t>
                      </a:r>
                      <a:r>
                        <a:rPr lang="en-IN" sz="1500" dirty="0">
                          <a:effectLst/>
                        </a:rPr>
                        <a:t>)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</a:rPr>
                        <a:t>Excel in Python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116348131"/>
                  </a:ext>
                </a:extLst>
              </a:tr>
              <a:tr h="304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matplotlib / seaborn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Creates charts and graphs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</a:rPr>
                        <a:t>A drawing board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9157966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D70D8CA1-0923-61E9-4B4A-206C2EB62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41" y="1142575"/>
            <a:ext cx="4102806" cy="853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77744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E75B6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Core Libraries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873E4F-D139-2EFB-1C20-555C8C988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876086"/>
              </p:ext>
            </p:extLst>
          </p:nvPr>
        </p:nvGraphicFramePr>
        <p:xfrm>
          <a:off x="6096000" y="1836429"/>
          <a:ext cx="5882148" cy="31845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9521">
                  <a:extLst>
                    <a:ext uri="{9D8B030D-6E8A-4147-A177-3AD203B41FA5}">
                      <a16:colId xmlns:a16="http://schemas.microsoft.com/office/drawing/2014/main" val="2103129565"/>
                    </a:ext>
                  </a:extLst>
                </a:gridCol>
                <a:gridCol w="3682627">
                  <a:extLst>
                    <a:ext uri="{9D8B030D-6E8A-4147-A177-3AD203B41FA5}">
                      <a16:colId xmlns:a16="http://schemas.microsoft.com/office/drawing/2014/main" val="2264930334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effectLst/>
                          <a:latin typeface="Aptos" panose="020B0004020202020204" pitchFamily="34" charset="0"/>
                        </a:rPr>
                        <a:t>Model</a:t>
                      </a:r>
                      <a:endParaRPr lang="en-IN" sz="15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effectLst/>
                          <a:latin typeface="Aptos" panose="020B0004020202020204" pitchFamily="34" charset="0"/>
                        </a:rPr>
                        <a:t>Simple Explanation</a:t>
                      </a:r>
                      <a:endParaRPr lang="en-IN" sz="15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01685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>
                          <a:effectLst/>
                          <a:latin typeface="Aptos" panose="020B0004020202020204" pitchFamily="34" charset="0"/>
                        </a:rPr>
                        <a:t>DecisionTreeClassifier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  <a:latin typeface="Aptos" panose="020B0004020202020204" pitchFamily="34" charset="0"/>
                        </a:rPr>
                        <a:t>Creates a flowchart of Yes/No questions to classify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34921742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RandomForestClassifier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Builds hundreds of decision trees and takes a vote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17397555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SVC / LinearSVC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  <a:latin typeface="Aptos" panose="020B0004020202020204" pitchFamily="34" charset="0"/>
                        </a:rPr>
                        <a:t>Finds the widest possible gap between classes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917095274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KNeighborsClassifier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  <a:latin typeface="Aptos" panose="020B0004020202020204" pitchFamily="34" charset="0"/>
                        </a:rPr>
                        <a:t>Looks at the K nearest data points and follows the majority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2557491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GaussianNB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  <a:latin typeface="Aptos" panose="020B0004020202020204" pitchFamily="34" charset="0"/>
                        </a:rPr>
                        <a:t>Uses probability statistics (Bayes' theorem) to classify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865116466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7FFA2813-F0B7-C7C2-4635-9E31BE9AD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188717"/>
            <a:ext cx="4442017" cy="807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26960" rIns="9144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Classification Models Imported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496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541B3-A2B0-5DD3-6651-C61E4170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EF1CFC-6BE3-281F-9648-8FE0BF479892}"/>
              </a:ext>
            </a:extLst>
          </p:cNvPr>
          <p:cNvSpPr/>
          <p:nvPr/>
        </p:nvSpPr>
        <p:spPr>
          <a:xfrm>
            <a:off x="0" y="1"/>
            <a:ext cx="12192000" cy="1011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AFEF8-4272-421E-0213-7E6A96A7E457}"/>
              </a:ext>
            </a:extLst>
          </p:cNvPr>
          <p:cNvSpPr txBox="1"/>
          <p:nvPr/>
        </p:nvSpPr>
        <p:spPr>
          <a:xfrm>
            <a:off x="537273" y="125012"/>
            <a:ext cx="673859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rgbClr val="122B42"/>
                </a:solidFill>
                <a:latin typeface="Aptos" panose="020B0004020202020204" pitchFamily="34" charset="0"/>
              </a:rPr>
              <a:t>Load Data and Perform EDA – getting to know data</a:t>
            </a:r>
            <a:endParaRPr lang="en-IN" sz="1050" dirty="0">
              <a:solidFill>
                <a:srgbClr val="606C7A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D6C6D2B-D157-5991-8D75-2417EF979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037127"/>
              </p:ext>
            </p:extLst>
          </p:nvPr>
        </p:nvGraphicFramePr>
        <p:xfrm>
          <a:off x="282678" y="1805150"/>
          <a:ext cx="11289890" cy="2672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21647">
                  <a:extLst>
                    <a:ext uri="{9D8B030D-6E8A-4147-A177-3AD203B41FA5}">
                      <a16:colId xmlns:a16="http://schemas.microsoft.com/office/drawing/2014/main" val="3629328974"/>
                    </a:ext>
                  </a:extLst>
                </a:gridCol>
                <a:gridCol w="7068243">
                  <a:extLst>
                    <a:ext uri="{9D8B030D-6E8A-4147-A177-3AD203B41FA5}">
                      <a16:colId xmlns:a16="http://schemas.microsoft.com/office/drawing/2014/main" val="3740629314"/>
                    </a:ext>
                  </a:extLst>
                </a:gridCol>
              </a:tblGrid>
              <a:tr h="4454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effectLst/>
                          <a:latin typeface="Aptos" panose="020B0004020202020204" pitchFamily="34" charset="0"/>
                        </a:rPr>
                        <a:t>Model</a:t>
                      </a:r>
                      <a:endParaRPr lang="en-IN" sz="15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effectLst/>
                          <a:latin typeface="Aptos" panose="020B0004020202020204" pitchFamily="34" charset="0"/>
                        </a:rPr>
                        <a:t>Simple Explanation</a:t>
                      </a:r>
                      <a:endParaRPr lang="en-IN" sz="15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394965"/>
                  </a:ext>
                </a:extLst>
              </a:tr>
              <a:tr h="445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LinearRegression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Fits a straight line through the data points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724972631"/>
                  </a:ext>
                </a:extLst>
              </a:tr>
              <a:tr h="445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RandomForestRegressor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  <a:latin typeface="Aptos" panose="020B0004020202020204" pitchFamily="34" charset="0"/>
                        </a:rPr>
                        <a:t>Ensemble of trees that vote on a numerical value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62249074"/>
                  </a:ext>
                </a:extLst>
              </a:tr>
              <a:tr h="445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GradientBoostingRegressor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Boosting approach applied to predicting numbers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84330512"/>
                  </a:ext>
                </a:extLst>
              </a:tr>
              <a:tr h="445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LinearSVR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Finds the flattest tube that contains most data points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28394401"/>
                  </a:ext>
                </a:extLst>
              </a:tr>
              <a:tr h="445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Aptos" panose="020B0004020202020204" pitchFamily="34" charset="0"/>
                        </a:rPr>
                        <a:t>XGBRegressor</a:t>
                      </a:r>
                      <a:endParaRPr lang="en-IN" sz="15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  <a:latin typeface="Aptos" panose="020B0004020202020204" pitchFamily="34" charset="0"/>
                        </a:rPr>
                        <a:t>Highly optimised gradient boosting — often the best regressor</a:t>
                      </a:r>
                      <a:endParaRPr lang="en-IN" sz="15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1158550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D029ECC-7604-6A6D-3863-F6FFD8BDED8F}"/>
              </a:ext>
            </a:extLst>
          </p:cNvPr>
          <p:cNvSpPr txBox="1"/>
          <p:nvPr/>
        </p:nvSpPr>
        <p:spPr>
          <a:xfrm>
            <a:off x="282678" y="1278194"/>
            <a:ext cx="11289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Regression Models Imported</a:t>
            </a:r>
          </a:p>
        </p:txBody>
      </p:sp>
    </p:spTree>
    <p:extLst>
      <p:ext uri="{BB962C8B-B14F-4D97-AF65-F5344CB8AC3E}">
        <p14:creationId xmlns:p14="http://schemas.microsoft.com/office/powerpoint/2010/main" val="1159171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37B34-E01E-17D1-B597-25E0E4290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A0D7403-43C7-5F72-99BF-AFDE23E75555}"/>
              </a:ext>
            </a:extLst>
          </p:cNvPr>
          <p:cNvSpPr/>
          <p:nvPr/>
        </p:nvSpPr>
        <p:spPr>
          <a:xfrm>
            <a:off x="0" y="1"/>
            <a:ext cx="12192000" cy="8579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93602D-2159-3398-7FD0-12633AD17856}"/>
              </a:ext>
            </a:extLst>
          </p:cNvPr>
          <p:cNvSpPr txBox="1"/>
          <p:nvPr/>
        </p:nvSpPr>
        <p:spPr>
          <a:xfrm>
            <a:off x="509311" y="173268"/>
            <a:ext cx="741061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600" b="1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DATASET OVERVIEW ( Implementation Dataset ) </a:t>
            </a:r>
            <a:endParaRPr sz="2600" b="1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87EB9-5D8E-AA60-207A-511D7A3DF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15" y="1032647"/>
            <a:ext cx="4839375" cy="30769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ED8051-8BEA-B624-BEC9-858716DDA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179" y="1010183"/>
            <a:ext cx="4772691" cy="29817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9186E-5453-2EFF-CB54-248C8E42821A}"/>
              </a:ext>
            </a:extLst>
          </p:cNvPr>
          <p:cNvSpPr txBox="1"/>
          <p:nvPr/>
        </p:nvSpPr>
        <p:spPr>
          <a:xfrm>
            <a:off x="294015" y="4286865"/>
            <a:ext cx="50743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Uniform distribution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No class Imbalance Problem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Suitable for Classification Model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Improves model fairness and accuracy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All crops have almost equal counts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DATASET IS BALANCED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F1DAC0-42A5-FEC3-7775-912953B91D41}"/>
              </a:ext>
            </a:extLst>
          </p:cNvPr>
          <p:cNvSpPr txBox="1"/>
          <p:nvPr/>
        </p:nvSpPr>
        <p:spPr>
          <a:xfrm>
            <a:off x="6439179" y="4286865"/>
            <a:ext cx="50743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Data is </a:t>
            </a:r>
            <a:r>
              <a:rPr lang="en-US" b="1" dirty="0"/>
              <a:t>not uniform → multiple peaks (clusters)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This indicated different Crops produce different yield levels.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Not normally distributed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Important for regression modelling</a:t>
            </a:r>
          </a:p>
        </p:txBody>
      </p:sp>
    </p:spTree>
    <p:extLst>
      <p:ext uri="{BB962C8B-B14F-4D97-AF65-F5344CB8AC3E}">
        <p14:creationId xmlns:p14="http://schemas.microsoft.com/office/powerpoint/2010/main" val="2970863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A77E3-4A2F-6EC6-A161-653390FA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46E437-A9BE-24D3-A74B-ED5A625310AA}"/>
              </a:ext>
            </a:extLst>
          </p:cNvPr>
          <p:cNvSpPr/>
          <p:nvPr/>
        </p:nvSpPr>
        <p:spPr>
          <a:xfrm>
            <a:off x="0" y="1"/>
            <a:ext cx="12192000" cy="8579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6DFADF-7481-F77F-0035-9DD3999E9A13}"/>
              </a:ext>
            </a:extLst>
          </p:cNvPr>
          <p:cNvSpPr txBox="1"/>
          <p:nvPr/>
        </p:nvSpPr>
        <p:spPr>
          <a:xfrm>
            <a:off x="509311" y="173268"/>
            <a:ext cx="324120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600" b="1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DATASET OVERVIEW</a:t>
            </a:r>
            <a:endParaRPr sz="2600" b="1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99A98-C9C1-6C18-7E00-4C6CAAC0D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65" y="1031236"/>
            <a:ext cx="4648849" cy="32484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0BB66A-FCE1-7D4A-7767-96500A73C793}"/>
              </a:ext>
            </a:extLst>
          </p:cNvPr>
          <p:cNvSpPr txBox="1"/>
          <p:nvPr/>
        </p:nvSpPr>
        <p:spPr>
          <a:xfrm>
            <a:off x="285135" y="4591665"/>
            <a:ext cx="50144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Sugarcane → highest yield (~70–80) </a:t>
            </a:r>
            <a:r>
              <a:rPr lang="en-IN" dirty="0" err="1"/>
              <a:t>yeild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Potato → medium (~20–30) </a:t>
            </a:r>
            <a:r>
              <a:rPr lang="en-IN" dirty="0" err="1"/>
              <a:t>yeild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Others → lower (~5–15) yield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Shows Spread -&gt; Variation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Presence of outliers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E85E8D-3ACD-9667-B8EA-16EA15552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911" y="904977"/>
            <a:ext cx="5850192" cy="33747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9D13EF7-DB7A-919B-D25A-28E7D9F040E9}"/>
              </a:ext>
            </a:extLst>
          </p:cNvPr>
          <p:cNvSpPr txBox="1"/>
          <p:nvPr/>
        </p:nvSpPr>
        <p:spPr>
          <a:xfrm>
            <a:off x="5397910" y="4334401"/>
            <a:ext cx="62434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Median yield for all seasons is </a:t>
            </a:r>
            <a:r>
              <a:rPr lang="en-US" b="1" dirty="0"/>
              <a:t>almost similar (~8–12 ton/ha)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Spread (variation) is also </a:t>
            </a:r>
            <a:r>
              <a:rPr lang="en-US" b="1" dirty="0"/>
              <a:t>quite similar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All seasons show </a:t>
            </a:r>
            <a:r>
              <a:rPr lang="en-US" b="1" dirty="0"/>
              <a:t>high outliers (~70–80 ton/ha)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 season clearly dominates in yield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Conclusion:</a:t>
            </a:r>
            <a:br>
              <a:rPr lang="en-US" dirty="0"/>
            </a:br>
            <a:r>
              <a:rPr lang="en-US" dirty="0"/>
              <a:t>Season alone </a:t>
            </a:r>
            <a:r>
              <a:rPr lang="en-US" b="1" dirty="0"/>
              <a:t>does not strongly affect yield</a:t>
            </a:r>
            <a:r>
              <a:rPr lang="en-US" dirty="0"/>
              <a:t> → other factors (soil, crop type) matter more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61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D0CD9-6638-D02D-CFA8-8094EE2D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9CDE330-90C2-5865-7FAF-8B92A9E39B93}"/>
              </a:ext>
            </a:extLst>
          </p:cNvPr>
          <p:cNvSpPr/>
          <p:nvPr/>
        </p:nvSpPr>
        <p:spPr>
          <a:xfrm>
            <a:off x="0" y="1"/>
            <a:ext cx="12192000" cy="8579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5F849-EB8F-CF9C-CBB1-07E57A55E9E9}"/>
              </a:ext>
            </a:extLst>
          </p:cNvPr>
          <p:cNvSpPr txBox="1"/>
          <p:nvPr/>
        </p:nvSpPr>
        <p:spPr>
          <a:xfrm>
            <a:off x="509311" y="173268"/>
            <a:ext cx="324120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600" b="1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DATASET OVERVIEW</a:t>
            </a:r>
            <a:endParaRPr sz="2600" b="1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A8111B-C906-E197-325D-17A590A29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837" y="1031236"/>
            <a:ext cx="4639322" cy="303931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A309BC3-5644-78A1-AA30-F11F3ECE7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639" y="1438201"/>
            <a:ext cx="651878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violin plot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showing distribution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yield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crop_yield_ton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different categories (likely crops or regions).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Combines: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 plot (inside)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median &amp; quartiles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Density Shape (outside)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 Data Distribution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observations: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Wider sections → more data points (high frequency)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Narrow sections → fewer data points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categories show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variability in yield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Density shape (outside)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data distribution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067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AA47C6-4BBF-3164-B21F-08A0E903C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31EDAF-FD26-1206-74A4-4F356B9BFC2E}"/>
              </a:ext>
            </a:extLst>
          </p:cNvPr>
          <p:cNvSpPr/>
          <p:nvPr/>
        </p:nvSpPr>
        <p:spPr>
          <a:xfrm>
            <a:off x="0" y="1"/>
            <a:ext cx="12192000" cy="8579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8E7B9D-A4FE-4D73-E09F-F3DC597C5F97}"/>
              </a:ext>
            </a:extLst>
          </p:cNvPr>
          <p:cNvSpPr txBox="1"/>
          <p:nvPr/>
        </p:nvSpPr>
        <p:spPr>
          <a:xfrm>
            <a:off x="509311" y="173268"/>
            <a:ext cx="324120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600" b="1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DATASET OVERVIEW</a:t>
            </a:r>
            <a:endParaRPr sz="2600" b="1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D9C1AE-E4D2-9006-CBEE-00EBF5460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11" y="1187245"/>
            <a:ext cx="5325218" cy="51442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7BF784-5A3F-3EA7-C6C4-362FDD74372F}"/>
              </a:ext>
            </a:extLst>
          </p:cNvPr>
          <p:cNvSpPr txBox="1"/>
          <p:nvPr/>
        </p:nvSpPr>
        <p:spPr>
          <a:xfrm>
            <a:off x="6302477" y="1317523"/>
            <a:ext cx="45916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Shows relationship between features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Most values are </a:t>
            </a:r>
            <a:r>
              <a:rPr lang="en-US" b="1" dirty="0"/>
              <a:t>close to 0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Weak correlation between features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Slight correlations: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Rainfall, humidity, temperature (expected)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Yield has some relation with inputs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Good for ML models (less redundancy)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Yield depends on multiple combined factors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8519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79B7975-9D08-E1CA-8260-E0A6AAA610FF}"/>
              </a:ext>
            </a:extLst>
          </p:cNvPr>
          <p:cNvSpPr/>
          <p:nvPr/>
        </p:nvSpPr>
        <p:spPr>
          <a:xfrm>
            <a:off x="0" y="1"/>
            <a:ext cx="12192000" cy="8849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8640" y="256032"/>
            <a:ext cx="424135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600" b="1" dirty="0">
                <a:solidFill>
                  <a:srgbClr val="122B42"/>
                </a:solidFill>
                <a:latin typeface="Aptos Display"/>
              </a:rPr>
              <a:t>Code</a:t>
            </a:r>
            <a:r>
              <a:rPr sz="2600" b="1" dirty="0">
                <a:solidFill>
                  <a:srgbClr val="122B42"/>
                </a:solidFill>
                <a:latin typeface="Aptos Display"/>
              </a:rPr>
              <a:t>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568" y="1004506"/>
            <a:ext cx="5693187" cy="38282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r>
              <a:rPr lang="en-IN" b="1" dirty="0"/>
              <a:t>Encoding &amp; Scaling Pipeline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LabelEncoder: Transform categorical variables (Soil_Type, Region, Season) → integers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Separate crop type label for stratified train-test split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StandardScaler: (X - mean) / std on all numerical features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Scaling ensures algorithms like SVM, KNN, LR are not biased by feature magnitude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endParaRPr lang="en-IN" dirty="0"/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r>
              <a:rPr lang="en-IN" b="1" dirty="0"/>
              <a:t>Train-Test Split Strategy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Classification: Stratified split maintains crop type proportions in train &amp; test sets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Regression: Random 80-20 split for yield prediction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Random state = 42 for reproducibility across model runs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6641D-C864-DB2F-0B77-764892BB061B}"/>
              </a:ext>
            </a:extLst>
          </p:cNvPr>
          <p:cNvSpPr txBox="1"/>
          <p:nvPr/>
        </p:nvSpPr>
        <p:spPr>
          <a:xfrm>
            <a:off x="5795962" y="1015092"/>
            <a:ext cx="6238721" cy="50109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r>
              <a:rPr lang="en-IN" b="1" dirty="0"/>
              <a:t>Ensemble Methods (Best Performers)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Random Forest: 100 trees, each trained on random feature subset → reduces overfitting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Extra Trees: Similar to RF but uses random thresholds → faster, adds diversity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Gradient Boosting: Sequential tree building, each corrects previous errors → high accuracy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endParaRPr lang="en-IN" dirty="0"/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r>
              <a:rPr lang="en-IN" b="1" dirty="0"/>
              <a:t>Linear Distance Based Model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Logistic Regression: Learns linear decision boundary via sigmoid function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KNN: Classifies by majority vote of K nearest </a:t>
            </a:r>
            <a:r>
              <a:rPr lang="en-IN" sz="1400" dirty="0" err="1">
                <a:latin typeface="Aptos" panose="020B0004020202020204" pitchFamily="34" charset="0"/>
              </a:rPr>
              <a:t>neighbors</a:t>
            </a:r>
            <a:r>
              <a:rPr lang="en-IN" sz="1400" dirty="0">
                <a:latin typeface="Aptos" panose="020B0004020202020204" pitchFamily="34" charset="0"/>
              </a:rPr>
              <a:t> (K=5 typically)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Gaussian Naive Bayes: Probabilistic classifier assuming feature independence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SVM: Finds optimal hyperplane maximizing margin between crop classes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endParaRPr lang="en-IN" dirty="0"/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r>
              <a:rPr lang="en-IN" b="1" dirty="0"/>
              <a:t>Model Training and Evaluation Loop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Train each model on (1,760 samples)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Calculate predictions on (440 samples)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Compute Accuracy, F1-Score, Precision, Recall for each model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DCB5A-AB3B-589F-F1F7-FA635151E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ACFD27-4A7C-6D02-F2D3-96CB6123ECD7}"/>
              </a:ext>
            </a:extLst>
          </p:cNvPr>
          <p:cNvSpPr/>
          <p:nvPr/>
        </p:nvSpPr>
        <p:spPr>
          <a:xfrm>
            <a:off x="0" y="1"/>
            <a:ext cx="12192000" cy="8849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9DDF8A-290C-37DC-CCEC-939EDE6B9CF2}"/>
              </a:ext>
            </a:extLst>
          </p:cNvPr>
          <p:cNvSpPr txBox="1"/>
          <p:nvPr/>
        </p:nvSpPr>
        <p:spPr>
          <a:xfrm>
            <a:off x="-420863" y="180842"/>
            <a:ext cx="8430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IN" sz="2800" dirty="0">
                <a:solidFill>
                  <a:schemeClr val="accent1">
                    <a:lumMod val="50000"/>
                  </a:schemeClr>
                </a:solidFill>
              </a:rPr>
              <a:t>Classification Models Implementation &amp; Result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33F6CD-05DA-18D8-5EA2-EB0990F002B3}"/>
              </a:ext>
            </a:extLst>
          </p:cNvPr>
          <p:cNvSpPr txBox="1"/>
          <p:nvPr/>
        </p:nvSpPr>
        <p:spPr>
          <a:xfrm>
            <a:off x="250568" y="1004506"/>
            <a:ext cx="6238721" cy="23036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The Training Loop — How All Models Are Evaluated</a:t>
            </a:r>
          </a:p>
          <a:p>
            <a:r>
              <a:rPr lang="en-IN" dirty="0">
                <a:latin typeface="Aptos" panose="020B0004020202020204" pitchFamily="34" charset="0"/>
              </a:rPr>
              <a:t>The code uses a for loop to train and evaluate every model the same way: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Fit the model on training data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Predict on the test data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Calculate 4 metrics: Accuracy, F1-Score, Recall, Precision</a:t>
            </a:r>
            <a:r>
              <a:rPr lang="en-IN" dirty="0"/>
              <a:t> 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AC530B-682F-9A3B-7037-E2987B7E597F}"/>
              </a:ext>
            </a:extLst>
          </p:cNvPr>
          <p:cNvSpPr txBox="1"/>
          <p:nvPr/>
        </p:nvSpPr>
        <p:spPr>
          <a:xfrm>
            <a:off x="202499" y="3084770"/>
            <a:ext cx="6334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Aptos" panose="020B0004020202020204" pitchFamily="34" charset="0"/>
              </a:rPr>
              <a:t>Code Output of Classification Model :-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0E6E41-080D-29F6-95FD-B7AE42442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33" y="3454102"/>
            <a:ext cx="5339212" cy="29425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1D0D5B-2D79-D416-8FED-E6081AFCA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579" y="3454102"/>
            <a:ext cx="5275700" cy="29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38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E3244-C971-9B42-6A19-684EB5F32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A74AF8-CD49-DE72-1776-1F01F2C1F5E4}"/>
              </a:ext>
            </a:extLst>
          </p:cNvPr>
          <p:cNvSpPr/>
          <p:nvPr/>
        </p:nvSpPr>
        <p:spPr>
          <a:xfrm>
            <a:off x="0" y="1"/>
            <a:ext cx="12192000" cy="8849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A280A6-B878-B98E-D612-4B5CF02C02B3}"/>
              </a:ext>
            </a:extLst>
          </p:cNvPr>
          <p:cNvSpPr txBox="1"/>
          <p:nvPr/>
        </p:nvSpPr>
        <p:spPr>
          <a:xfrm>
            <a:off x="-420863" y="180842"/>
            <a:ext cx="6373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IN" sz="2800" dirty="0">
                <a:solidFill>
                  <a:schemeClr val="accent1">
                    <a:lumMod val="50000"/>
                  </a:schemeClr>
                </a:solidFill>
              </a:rPr>
              <a:t>Classification Models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5E9B54-01EF-A07D-E1EF-1407B9A5BB64}"/>
              </a:ext>
            </a:extLst>
          </p:cNvPr>
          <p:cNvSpPr txBox="1"/>
          <p:nvPr/>
        </p:nvSpPr>
        <p:spPr>
          <a:xfrm>
            <a:off x="250568" y="1004506"/>
            <a:ext cx="623872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Code Input of Classification Model Prediction :-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939ADB-4BEF-00FD-9232-F1C4EAA3E197}"/>
              </a:ext>
            </a:extLst>
          </p:cNvPr>
          <p:cNvSpPr txBox="1"/>
          <p:nvPr/>
        </p:nvSpPr>
        <p:spPr>
          <a:xfrm>
            <a:off x="202499" y="2998067"/>
            <a:ext cx="6334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Aptos" panose="020B0004020202020204" pitchFamily="34" charset="0"/>
              </a:rPr>
              <a:t>Code Output of Classification Model Prediction :-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EF1A39-72B4-F188-9596-B8BF510777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314"/>
          <a:stretch>
            <a:fillRect/>
          </a:stretch>
        </p:blipFill>
        <p:spPr>
          <a:xfrm>
            <a:off x="315432" y="1373838"/>
            <a:ext cx="4153480" cy="1465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5ACC85-A2F4-AAF4-B351-743E3E581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32" y="3372931"/>
            <a:ext cx="5780568" cy="296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465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97977-9BE2-FD7D-1549-34F20830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E55DB96-BFEC-CADF-BD5C-D6587DD64C5F}"/>
              </a:ext>
            </a:extLst>
          </p:cNvPr>
          <p:cNvSpPr/>
          <p:nvPr/>
        </p:nvSpPr>
        <p:spPr>
          <a:xfrm>
            <a:off x="0" y="1"/>
            <a:ext cx="12192000" cy="8849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94FF8B-68CF-123C-D1D9-FBE58B84D1D1}"/>
              </a:ext>
            </a:extLst>
          </p:cNvPr>
          <p:cNvSpPr txBox="1"/>
          <p:nvPr/>
        </p:nvSpPr>
        <p:spPr>
          <a:xfrm>
            <a:off x="133304" y="180842"/>
            <a:ext cx="64732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IN" sz="2800" dirty="0">
                <a:solidFill>
                  <a:schemeClr val="accent1">
                    <a:lumMod val="50000"/>
                  </a:schemeClr>
                </a:solidFill>
              </a:rPr>
              <a:t>Regression Based Models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962A71-A826-B119-3DB5-2FA1C737FF3F}"/>
              </a:ext>
            </a:extLst>
          </p:cNvPr>
          <p:cNvSpPr txBox="1"/>
          <p:nvPr/>
        </p:nvSpPr>
        <p:spPr>
          <a:xfrm>
            <a:off x="250568" y="1004506"/>
            <a:ext cx="6238721" cy="49909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r>
              <a:rPr lang="en-IN" b="1" dirty="0"/>
              <a:t>Tree Based Regressor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Random Forest Regressor: Ensemble of trees averaging predictions → captures non-linear yield patterns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Gradient Boosting Regressor: Sequential correction of residuals → excellent accuracy (R² 0.9975-09979)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XGBoost: Optimized GBR with regularization → handles non-monotonic rainfall-yield relationship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endParaRPr lang="en-IN" dirty="0"/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r>
              <a:rPr lang="en-IN" b="1" dirty="0"/>
              <a:t>Linear &amp; Kernal Methods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Linear Regression: Fits Y = </a:t>
            </a:r>
            <a:r>
              <a:rPr lang="en-IN" sz="1400" dirty="0" err="1">
                <a:latin typeface="Aptos" panose="020B0004020202020204" pitchFamily="34" charset="0"/>
              </a:rPr>
              <a:t>wX</a:t>
            </a:r>
            <a:r>
              <a:rPr lang="en-IN" sz="1400" dirty="0">
                <a:latin typeface="Aptos" panose="020B0004020202020204" pitchFamily="34" charset="0"/>
              </a:rPr>
              <a:t> + b assuming linear relationships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SVR: RBF kernel projects data to high-dimensional space for non-linear fitting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endParaRPr lang="en-IN" dirty="0"/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r>
              <a:rPr lang="en-IN" b="1" dirty="0"/>
              <a:t>Model Training and Hyper Parameter Tuning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Grid Search explores parameter combinations for optimal performance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For SVR: optimize C (margin tolerance), epsilon (tube width), gamma (kernel spread)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IN" sz="1400" dirty="0">
                <a:latin typeface="Aptos" panose="020B0004020202020204" pitchFamily="34" charset="0"/>
              </a:rPr>
              <a:t>• Track R², RMSE, MAE for comprehensive performance assessment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487E29-7F20-BD88-E721-D4C2D65CB89C}"/>
              </a:ext>
            </a:extLst>
          </p:cNvPr>
          <p:cNvSpPr txBox="1"/>
          <p:nvPr/>
        </p:nvSpPr>
        <p:spPr>
          <a:xfrm>
            <a:off x="6489289" y="1041891"/>
            <a:ext cx="5452143" cy="21578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r>
              <a:rPr lang="en-IN" b="1" dirty="0"/>
              <a:t>Extracting Important Feature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Tree-based models (RF, GB, XGB): </a:t>
            </a:r>
            <a:r>
              <a:rPr lang="en-US" sz="1400" dirty="0" err="1">
                <a:latin typeface="Aptos" panose="020B0004020202020204" pitchFamily="34" charset="0"/>
              </a:rPr>
              <a:t>feature_importances</a:t>
            </a:r>
            <a:r>
              <a:rPr lang="en-US" sz="1400" dirty="0">
                <a:latin typeface="Aptos" panose="020B0004020202020204" pitchFamily="34" charset="0"/>
              </a:rPr>
              <a:t>_ attribute 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Formula: Sum of impurity decrease across all tree splits for each feature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Permutation Importance: measure accuracy drop when feature values are shuffled</a:t>
            </a:r>
          </a:p>
          <a:p>
            <a:pPr>
              <a:spcBef>
                <a:spcPts val="300"/>
              </a:spcBef>
              <a:defRPr sz="1300">
                <a:solidFill>
                  <a:srgbClr val="1E1E1E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All importances normalized to [0, 1] and sorted for comparison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8259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BBE38-C104-8AAF-171B-366C6CF0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0DBC14-3EEB-B366-234A-9AF1A9409C82}"/>
              </a:ext>
            </a:extLst>
          </p:cNvPr>
          <p:cNvSpPr/>
          <p:nvPr/>
        </p:nvSpPr>
        <p:spPr>
          <a:xfrm>
            <a:off x="0" y="1"/>
            <a:ext cx="12192000" cy="8849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7CE127-99A9-A869-007A-67A74B4EEF07}"/>
              </a:ext>
            </a:extLst>
          </p:cNvPr>
          <p:cNvSpPr txBox="1"/>
          <p:nvPr/>
        </p:nvSpPr>
        <p:spPr>
          <a:xfrm>
            <a:off x="-420863" y="180842"/>
            <a:ext cx="8430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IN" sz="2800" dirty="0">
                <a:solidFill>
                  <a:schemeClr val="accent1">
                    <a:lumMod val="50000"/>
                  </a:schemeClr>
                </a:solidFill>
              </a:rPr>
              <a:t>Regression Models Implementation &amp; Result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E5F2FB-2EBC-BEB5-0840-B71767862A8D}"/>
              </a:ext>
            </a:extLst>
          </p:cNvPr>
          <p:cNvSpPr txBox="1"/>
          <p:nvPr/>
        </p:nvSpPr>
        <p:spPr>
          <a:xfrm>
            <a:off x="250568" y="1004506"/>
            <a:ext cx="6238721" cy="20266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The Training Loop — How All Models Are Evaluated</a:t>
            </a:r>
          </a:p>
          <a:p>
            <a:r>
              <a:rPr lang="en-IN" dirty="0">
                <a:latin typeface="Aptos" panose="020B0004020202020204" pitchFamily="34" charset="0"/>
              </a:rPr>
              <a:t>The code uses a for loop to train and evaluate every model the same way: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Fit the model on training data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Predict on the test data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ptos" panose="020B0004020202020204" pitchFamily="34" charset="0"/>
              </a:rPr>
              <a:t>Calculate 3 metrics: R2, MAE, RMSE</a:t>
            </a:r>
            <a:r>
              <a:rPr lang="en-IN" dirty="0"/>
              <a:t> 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2A3036"/>
                </a:solidFill>
                <a:latin typeface="Aptos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83C80-E823-3D55-04D4-F3B895775A0A}"/>
              </a:ext>
            </a:extLst>
          </p:cNvPr>
          <p:cNvSpPr txBox="1"/>
          <p:nvPr/>
        </p:nvSpPr>
        <p:spPr>
          <a:xfrm>
            <a:off x="202499" y="2846485"/>
            <a:ext cx="6334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Aptos" panose="020B0004020202020204" pitchFamily="34" charset="0"/>
              </a:rPr>
              <a:t>Code Output of Regression Model :-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BBCF40-8F7F-CE51-D472-52A4CEC782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31" b="19407"/>
          <a:stretch>
            <a:fillRect/>
          </a:stretch>
        </p:blipFill>
        <p:spPr>
          <a:xfrm>
            <a:off x="250568" y="3215817"/>
            <a:ext cx="5622694" cy="298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42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819EA-200F-045C-4743-08848FE55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31CEFD-AD8D-22D4-4112-2E05F6D122BE}"/>
              </a:ext>
            </a:extLst>
          </p:cNvPr>
          <p:cNvSpPr/>
          <p:nvPr/>
        </p:nvSpPr>
        <p:spPr>
          <a:xfrm>
            <a:off x="0" y="1"/>
            <a:ext cx="12192000" cy="8849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63F365-595B-CDC5-E001-C4A63FFF697F}"/>
              </a:ext>
            </a:extLst>
          </p:cNvPr>
          <p:cNvSpPr txBox="1"/>
          <p:nvPr/>
        </p:nvSpPr>
        <p:spPr>
          <a:xfrm>
            <a:off x="-420863" y="180842"/>
            <a:ext cx="6373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IN" sz="2800" dirty="0">
                <a:solidFill>
                  <a:schemeClr val="accent1">
                    <a:lumMod val="50000"/>
                  </a:schemeClr>
                </a:solidFill>
              </a:rPr>
              <a:t>Regression Models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633A5-2314-9DBF-D989-36F63F1E7298}"/>
              </a:ext>
            </a:extLst>
          </p:cNvPr>
          <p:cNvSpPr txBox="1"/>
          <p:nvPr/>
        </p:nvSpPr>
        <p:spPr>
          <a:xfrm>
            <a:off x="250568" y="1004506"/>
            <a:ext cx="623872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Code Input of Regression Model Prediction :-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7841B3-5C52-4C3A-EFF0-DE55762C7BFC}"/>
              </a:ext>
            </a:extLst>
          </p:cNvPr>
          <p:cNvSpPr txBox="1"/>
          <p:nvPr/>
        </p:nvSpPr>
        <p:spPr>
          <a:xfrm>
            <a:off x="202499" y="3244334"/>
            <a:ext cx="6334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Aptos" panose="020B0004020202020204" pitchFamily="34" charset="0"/>
              </a:rPr>
              <a:t>Code Output of Regression Model Prediction :-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B92982-FA54-5781-3847-70E5680C29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084" b="23784"/>
          <a:stretch>
            <a:fillRect/>
          </a:stretch>
        </p:blipFill>
        <p:spPr>
          <a:xfrm>
            <a:off x="341812" y="1373838"/>
            <a:ext cx="3263034" cy="18805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307A73-BC17-2524-FF53-B09CAF12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68" y="3668873"/>
            <a:ext cx="5410955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1632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F9436-6C8A-3F4B-8B99-439C3CBCA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5D393-8CAF-BFA2-CC96-EAE7BC0B23DE}"/>
              </a:ext>
            </a:extLst>
          </p:cNvPr>
          <p:cNvSpPr/>
          <p:nvPr/>
        </p:nvSpPr>
        <p:spPr>
          <a:xfrm>
            <a:off x="0" y="1"/>
            <a:ext cx="12192000" cy="8849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166E34-A66A-B120-9461-6C9379E1EF1B}"/>
              </a:ext>
            </a:extLst>
          </p:cNvPr>
          <p:cNvSpPr txBox="1"/>
          <p:nvPr/>
        </p:nvSpPr>
        <p:spPr>
          <a:xfrm>
            <a:off x="129902" y="180842"/>
            <a:ext cx="7035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IN" sz="2800" dirty="0">
                <a:solidFill>
                  <a:schemeClr val="accent1">
                    <a:lumMod val="50000"/>
                  </a:schemeClr>
                </a:solidFill>
              </a:rPr>
              <a:t>Feature Importance Analysis (Classification)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089ECCA-0817-2EDA-E89E-76FFC66DF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840" y="5139720"/>
            <a:ext cx="11502320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Classification (</a:t>
            </a:r>
            <a:r>
              <a:rPr lang="en-US" altLang="en-US" sz="1500" b="1" dirty="0">
                <a:solidFill>
                  <a:srgbClr val="000000"/>
                </a:solidFill>
                <a:latin typeface="Aptos" panose="020B0004020202020204" pitchFamily="34" charset="0"/>
              </a:rPr>
              <a:t>RF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) Feature Importance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This looks at which features the model used to predict the actual numerical yield.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Meaning: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altLang="en-US" sz="1200" dirty="0">
                <a:latin typeface="Aptos" panose="020B0004020202020204" pitchFamily="34" charset="0"/>
              </a:rPr>
              <a:t>The feature importance chart shows that </a:t>
            </a:r>
            <a:r>
              <a:rPr lang="en-US" altLang="en-US" sz="1200" b="1" dirty="0">
                <a:latin typeface="Aptos" panose="020B0004020202020204" pitchFamily="34" charset="0"/>
              </a:rPr>
              <a:t>Crop Yield per hectare</a:t>
            </a:r>
            <a:r>
              <a:rPr lang="en-US" altLang="en-US" sz="1200" dirty="0">
                <a:latin typeface="Aptos" panose="020B0004020202020204" pitchFamily="34" charset="0"/>
              </a:rPr>
              <a:t> is the most dominant factor influencing the model’s predictions.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ptos" panose="020B0004020202020204" pitchFamily="34" charset="0"/>
              </a:rPr>
              <a:t>Variables like </a:t>
            </a:r>
            <a:r>
              <a:rPr lang="en-US" altLang="en-US" sz="1200" b="1" dirty="0">
                <a:latin typeface="Aptos" panose="020B0004020202020204" pitchFamily="34" charset="0"/>
              </a:rPr>
              <a:t>Fertilizer Used, Rainfall, and Soil Moisture</a:t>
            </a:r>
            <a:r>
              <a:rPr lang="en-US" altLang="en-US" sz="1200" dirty="0">
                <a:latin typeface="Aptos" panose="020B0004020202020204" pitchFamily="34" charset="0"/>
              </a:rPr>
              <a:t> have moderate impact, indicating their significant role in agricultural productivity.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ptos" panose="020B0004020202020204" pitchFamily="34" charset="0"/>
              </a:rPr>
              <a:t>Environmental factors such as </a:t>
            </a:r>
            <a:r>
              <a:rPr lang="en-US" altLang="en-US" sz="1200" b="1" dirty="0">
                <a:latin typeface="Aptos" panose="020B0004020202020204" pitchFamily="34" charset="0"/>
              </a:rPr>
              <a:t>Temperature, Humidity, and Sunlight Hours</a:t>
            </a:r>
            <a:r>
              <a:rPr lang="en-US" altLang="en-US" sz="1200" dirty="0">
                <a:latin typeface="Aptos" panose="020B0004020202020204" pitchFamily="34" charset="0"/>
              </a:rPr>
              <a:t> contribute moderately but are less influential than yield-related inputs.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ptos" panose="020B0004020202020204" pitchFamily="34" charset="0"/>
              </a:rPr>
              <a:t>Nutrient elements (</a:t>
            </a:r>
            <a:r>
              <a:rPr lang="en-US" altLang="en-US" sz="1200" b="1" dirty="0">
                <a:latin typeface="Aptos" panose="020B0004020202020204" pitchFamily="34" charset="0"/>
              </a:rPr>
              <a:t>N, P, K</a:t>
            </a:r>
            <a:r>
              <a:rPr lang="en-US" altLang="en-US" sz="1200" dirty="0">
                <a:latin typeface="Aptos" panose="020B0004020202020204" pitchFamily="34" charset="0"/>
              </a:rPr>
              <a:t>) and soil properties like </a:t>
            </a:r>
            <a:r>
              <a:rPr lang="en-US" altLang="en-US" sz="1200" b="1" dirty="0">
                <a:latin typeface="Aptos" panose="020B0004020202020204" pitchFamily="34" charset="0"/>
              </a:rPr>
              <a:t>Soil pH and Organic Carbon</a:t>
            </a:r>
            <a:r>
              <a:rPr lang="en-US" altLang="en-US" sz="1200" dirty="0">
                <a:latin typeface="Aptos" panose="020B0004020202020204" pitchFamily="34" charset="0"/>
              </a:rPr>
              <a:t> have relatively smaller but still relevant effects.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ptos" panose="020B0004020202020204" pitchFamily="34" charset="0"/>
              </a:rPr>
              <a:t>Categorical features such as </a:t>
            </a:r>
            <a:r>
              <a:rPr lang="en-US" altLang="en-US" sz="1200" b="1" dirty="0">
                <a:latin typeface="Aptos" panose="020B0004020202020204" pitchFamily="34" charset="0"/>
              </a:rPr>
              <a:t>Region, Soil Type, Irrigation Type, and Season</a:t>
            </a:r>
            <a:r>
              <a:rPr lang="en-US" altLang="en-US" sz="1200" dirty="0">
                <a:latin typeface="Aptos" panose="020B0004020202020204" pitchFamily="34" charset="0"/>
              </a:rPr>
              <a:t> have the least importance, suggesting limited influence on prediction outcomes.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51E22-9952-881A-2C12-2F5787DC0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73" y="953611"/>
            <a:ext cx="9866951" cy="411740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0609E7C-FEE3-5DAF-68DD-F80724ACF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888" y="3302429"/>
            <a:ext cx="103906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298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9BB54-8916-7321-6ECB-717DA2E34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1BCADF-E820-847A-1FFE-2111E26FB678}"/>
              </a:ext>
            </a:extLst>
          </p:cNvPr>
          <p:cNvSpPr/>
          <p:nvPr/>
        </p:nvSpPr>
        <p:spPr>
          <a:xfrm>
            <a:off x="0" y="1"/>
            <a:ext cx="12192000" cy="8849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495981-A29A-5EA8-AA72-E794D70DEE3A}"/>
              </a:ext>
            </a:extLst>
          </p:cNvPr>
          <p:cNvSpPr txBox="1"/>
          <p:nvPr/>
        </p:nvSpPr>
        <p:spPr>
          <a:xfrm>
            <a:off x="129902" y="180842"/>
            <a:ext cx="7035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IN" sz="2800" dirty="0">
                <a:solidFill>
                  <a:schemeClr val="accent1">
                    <a:lumMod val="50000"/>
                  </a:schemeClr>
                </a:solidFill>
              </a:rPr>
              <a:t>Feature Importance Analysis (Regression)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DFA5590-7FEB-CF86-7E29-A256D0ECD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257" y="4773674"/>
            <a:ext cx="1150232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Regression (</a:t>
            </a:r>
            <a:r>
              <a:rPr lang="en-US" altLang="en-US" sz="1500" b="1" dirty="0" err="1">
                <a:solidFill>
                  <a:srgbClr val="000000"/>
                </a:solidFill>
                <a:latin typeface="Aptos" panose="020B0004020202020204" pitchFamily="34" charset="0"/>
              </a:rPr>
              <a:t>Grediant</a:t>
            </a:r>
            <a:r>
              <a:rPr lang="en-US" altLang="en-US" sz="1500" b="1" dirty="0">
                <a:solidFill>
                  <a:srgbClr val="000000"/>
                </a:solidFill>
                <a:latin typeface="Aptos" panose="020B0004020202020204" pitchFamily="34" charset="0"/>
              </a:rPr>
              <a:t> Boost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) Feature Importance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This looks at which features the model used to predict the actual numerical yield.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Meaning: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endParaRPr lang="en-US" altLang="en-US" sz="1600" dirty="0">
              <a:latin typeface="Aptos" panose="020B00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ptos" panose="020B0004020202020204" pitchFamily="34" charset="0"/>
              </a:rPr>
              <a:t>The chart indicates that </a:t>
            </a:r>
            <a:r>
              <a:rPr lang="en-US" altLang="en-US" sz="1400" b="1" dirty="0">
                <a:latin typeface="Aptos" panose="020B0004020202020204" pitchFamily="34" charset="0"/>
              </a:rPr>
              <a:t>Crop Type</a:t>
            </a:r>
            <a:r>
              <a:rPr lang="en-US" altLang="en-US" sz="1400" dirty="0">
                <a:latin typeface="Aptos" panose="020B0004020202020204" pitchFamily="34" charset="0"/>
              </a:rPr>
              <a:t> is the most influential feature, dominating the model’s predictions significantly.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ptos" panose="020B0004020202020204" pitchFamily="34" charset="0"/>
              </a:rPr>
              <a:t>All other variables such as </a:t>
            </a:r>
            <a:r>
              <a:rPr lang="en-US" altLang="en-US" sz="1400" b="1" dirty="0">
                <a:latin typeface="Aptos" panose="020B0004020202020204" pitchFamily="34" charset="0"/>
              </a:rPr>
              <a:t>Fertilizer Used, Rainfall, and Soil Moisture</a:t>
            </a:r>
            <a:r>
              <a:rPr lang="en-US" altLang="en-US" sz="1400" dirty="0">
                <a:latin typeface="Aptos" panose="020B0004020202020204" pitchFamily="34" charset="0"/>
              </a:rPr>
              <a:t> have extremely low importance in comparison.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ptos" panose="020B0004020202020204" pitchFamily="34" charset="0"/>
              </a:rPr>
              <a:t>Environmental factors like </a:t>
            </a:r>
            <a:r>
              <a:rPr lang="en-US" altLang="en-US" sz="1400" b="1" dirty="0">
                <a:latin typeface="Aptos" panose="020B0004020202020204" pitchFamily="34" charset="0"/>
              </a:rPr>
              <a:t>Temperature, Humidity, and Wind Speed</a:t>
            </a:r>
            <a:r>
              <a:rPr lang="en-US" altLang="en-US" sz="1400" dirty="0">
                <a:latin typeface="Aptos" panose="020B0004020202020204" pitchFamily="34" charset="0"/>
              </a:rPr>
              <a:t> contribute minimally to the prediction outcome.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ptos" panose="020B0004020202020204" pitchFamily="34" charset="0"/>
              </a:rPr>
              <a:t>Soil nutrients (</a:t>
            </a:r>
            <a:r>
              <a:rPr lang="en-US" altLang="en-US" sz="1400" b="1" dirty="0">
                <a:latin typeface="Aptos" panose="020B0004020202020204" pitchFamily="34" charset="0"/>
              </a:rPr>
              <a:t>N, P, K</a:t>
            </a:r>
            <a:r>
              <a:rPr lang="en-US" altLang="en-US" sz="1400" dirty="0">
                <a:latin typeface="Aptos" panose="020B0004020202020204" pitchFamily="34" charset="0"/>
              </a:rPr>
              <a:t>) and properties such as </a:t>
            </a:r>
            <a:r>
              <a:rPr lang="en-US" altLang="en-US" sz="1400" b="1" dirty="0">
                <a:latin typeface="Aptos" panose="020B0004020202020204" pitchFamily="34" charset="0"/>
              </a:rPr>
              <a:t>Soil pH and Organic Carbon</a:t>
            </a:r>
            <a:r>
              <a:rPr lang="en-US" altLang="en-US" sz="1400" dirty="0">
                <a:latin typeface="Aptos" panose="020B0004020202020204" pitchFamily="34" charset="0"/>
              </a:rPr>
              <a:t> show negligible impact on the model.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ptos" panose="020B0004020202020204" pitchFamily="34" charset="0"/>
              </a:rPr>
              <a:t>Categorical features like </a:t>
            </a:r>
            <a:r>
              <a:rPr lang="en-US" altLang="en-US" sz="1400" b="1" dirty="0">
                <a:latin typeface="Aptos" panose="020B0004020202020204" pitchFamily="34" charset="0"/>
              </a:rPr>
              <a:t>Region, Season, Soil Type, and Irrigation Type</a:t>
            </a:r>
            <a:r>
              <a:rPr lang="en-US" altLang="en-US" sz="1400" dirty="0">
                <a:latin typeface="Aptos" panose="020B0004020202020204" pitchFamily="34" charset="0"/>
              </a:rPr>
              <a:t> have almost no influence, suggesting the model heavily depends on crop type alone.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63C8B-EE72-C90B-63C4-0DB3BB095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723" y="1107058"/>
            <a:ext cx="7487393" cy="358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51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3484" y="2321004"/>
            <a:ext cx="8572499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800" b="1" dirty="0">
                <a:solidFill>
                  <a:srgbClr val="122B42"/>
                </a:solidFill>
                <a:latin typeface="Aptos Display"/>
              </a:rPr>
              <a:t>Thank You </a:t>
            </a:r>
            <a:endParaRPr sz="13800" b="1" dirty="0">
              <a:solidFill>
                <a:srgbClr val="122B42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2726</Words>
  <Application>Microsoft Office PowerPoint</Application>
  <PresentationFormat>Widescreen</PresentationFormat>
  <Paragraphs>375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HItesh Zanzrukiya</dc:creator>
  <cp:keywords/>
  <dc:description>generated using python-pptx</dc:description>
  <cp:lastModifiedBy>DHAVAL GHINAIYA</cp:lastModifiedBy>
  <cp:revision>129</cp:revision>
  <dcterms:created xsi:type="dcterms:W3CDTF">2013-01-27T09:14:16Z</dcterms:created>
  <dcterms:modified xsi:type="dcterms:W3CDTF">2026-07-06T12:54:59Z</dcterms:modified>
  <cp:category/>
</cp:coreProperties>
</file>